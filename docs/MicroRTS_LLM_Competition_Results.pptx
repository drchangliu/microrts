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MicroRTS LLM Game AI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800" b="0">
                <a:solidFill>
                  <a:srgbClr val="CFD8E3"/>
                </a:solidFill>
                <a:latin typeface="Calibri"/>
              </a:rPr>
              <a:t>Final Results &amp;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E36B18"/>
                </a:solidFill>
                <a:latin typeface="Calibri"/>
              </a:rPr>
              <a:t>2026 IEEE World Congress on Computational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Organizers: Chang Liu et al.   ·   13 teams   ·   15 agents evaluated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github.com/drchangliu/MicroRTS  ·  drchangliu.github.io/MicroRTS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Competition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What we asked the teams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02A54"/>
                </a:solidFill>
                <a:latin typeface="Calibri"/>
              </a:rPr>
              <a:t>Build an LLM-powered MicroRTS agent — no training, no fine-tuning, prompt-only.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293A"/>
                </a:solidFill>
              </a:rPr>
              <a:t>•  MicroRTS: open Java RTS benchmark (Ontañón et al.) — workers, light/heavy/ranged units, bases, barracks.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93A"/>
                </a:solidFill>
              </a:rPr>
              <a:t>•  Agents read the game state, prompt an LLM, parse JSON moves, and submit them per tick.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93A"/>
                </a:solidFill>
              </a:rPr>
              <a:t>•  Success requires prompt engineering and strategy design, not weight updates.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93A"/>
                </a:solidFill>
              </a:rPr>
              <a:t>•  Submission via GitHub PR; central server compiled and ran each agent against a six-anchor ladder.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93A"/>
                </a:solidFill>
              </a:rPr>
              <a:t>•  Tests LLM reasoning, planning, and instruction-following under hard real-time constraints.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5120640"/>
            <a:ext cx="329184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5166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/>
              </a:rPr>
              <a:t>By the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5486400"/>
            <a:ext cx="310896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13 teams  ·  15 binaries</a:t>
            </a:r>
          </a:p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4 map sizes (8×8 → 64×64)</a:t>
            </a:r>
          </a:p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6 anchor opponents</a:t>
            </a:r>
          </a:p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1 A+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Tournament Format &amp;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Single-elimination, multi-map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Map gauntlet (per agent)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57600" cy="384048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417320"/>
            <a:ext cx="1645920" cy="384048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72184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472184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Cycle cap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01368"/>
            <a:ext cx="365760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1801368"/>
            <a:ext cx="164592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56232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8×8  basesWorkers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856232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1,500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85416"/>
            <a:ext cx="3657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2185416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40280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16×16 basesWorkers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240280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3,000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69464"/>
            <a:ext cx="365760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0" y="2569464"/>
            <a:ext cx="164592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24328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32×32 basesWorkers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624328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53512"/>
            <a:ext cx="36576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2953512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08376"/>
            <a:ext cx="35661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64×64 GardenOfWar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008376"/>
            <a:ext cx="15544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8,000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Anchor opponents (weight)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417320"/>
            <a:ext cx="2743200" cy="384048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1120" y="1417320"/>
            <a:ext cx="1554480" cy="384048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0" y="1417320"/>
            <a:ext cx="1188720" cy="384048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472184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Opponent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1472184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1472184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801368"/>
            <a:ext cx="274320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1120" y="1801368"/>
            <a:ext cx="155448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0" y="1801368"/>
            <a:ext cx="118872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856232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RandomBiasedAI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185623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easy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1856232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185416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2185416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15600" y="2185416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224028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WorkerRush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240280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2240280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569464"/>
            <a:ext cx="274320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61120" y="2569464"/>
            <a:ext cx="155448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15600" y="2569464"/>
            <a:ext cx="118872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2624328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LightRush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2624328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624328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2953512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961120" y="2953512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15600" y="2953512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3008376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HeavyRush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3008376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medium-hard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3008376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337560"/>
            <a:ext cx="274320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61120" y="3337560"/>
            <a:ext cx="155448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15600" y="3337560"/>
            <a:ext cx="1188720" cy="384048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3392424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Tiamat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3392424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hard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3392424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3721608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61120" y="3721608"/>
            <a:ext cx="1554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15600" y="3721608"/>
            <a:ext cx="11887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3776472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CoacAI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3776472"/>
            <a:ext cx="14630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hard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07040" y="3776472"/>
            <a:ext cx="10058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300" b="0">
                <a:solidFill>
                  <a:srgbClr val="1F293A"/>
                </a:solidFill>
                <a:latin typeface="Calibri"/>
              </a:rPr>
              <a:t>20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480560"/>
            <a:ext cx="11247120" cy="17373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Scoring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Weighted points per win (1.0) and draw (0.5), averaged across maps. A loss to an anchor stops that map (single-elimination) and the agent banks whatever it earned reaching that anchor.</a:t>
            </a:r>
          </a:p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Grades:  A+ ≥ 90    ·    A ≥ 80    ·    B ≥ 70    ·    C ≥ 60    ·    D ≥ 40    ·    F &lt; 40</a:t>
            </a:r>
          </a:p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Default server model: llama3.1:8b (Ollama). Teams could declare a preferred model.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Final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Best score per team across all tournament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" cy="34747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60704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005840"/>
            <a:ext cx="2194560" cy="34747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06070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1005840" cy="34747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060704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005840"/>
            <a:ext cx="731520" cy="34747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06070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005840"/>
            <a:ext cx="1737360" cy="34747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1060704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05840"/>
            <a:ext cx="5394960" cy="347472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06070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371600"/>
            <a:ext cx="548640" cy="329184"/>
          </a:xfrm>
          <a:prstGeom prst="rect">
            <a:avLst/>
          </a:prstGeom>
          <a:solidFill>
            <a:srgbClr val="FDF3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1371600"/>
            <a:ext cx="2194560" cy="329184"/>
          </a:xfrm>
          <a:prstGeom prst="rect">
            <a:avLst/>
          </a:prstGeom>
          <a:solidFill>
            <a:srgbClr val="FDF3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1371600"/>
            <a:ext cx="1005840" cy="329184"/>
          </a:xfrm>
          <a:prstGeom prst="rect">
            <a:avLst/>
          </a:prstGeom>
          <a:solidFill>
            <a:srgbClr val="FDF3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371600"/>
            <a:ext cx="731520" cy="329184"/>
          </a:xfrm>
          <a:prstGeom prst="rect">
            <a:avLst/>
          </a:prstGeom>
          <a:solidFill>
            <a:srgbClr val="FDF3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1371600"/>
            <a:ext cx="1737360" cy="329184"/>
          </a:xfrm>
          <a:prstGeom prst="rect">
            <a:avLst/>
          </a:prstGeom>
          <a:solidFill>
            <a:srgbClr val="FDF3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371600"/>
            <a:ext cx="5394960" cy="329184"/>
          </a:xfrm>
          <a:prstGeom prst="rect">
            <a:avLst/>
          </a:prstGeom>
          <a:solidFill>
            <a:srgbClr val="FDF3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141732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4A017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141732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AlliBot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1417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100.5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87952" y="14173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884E"/>
                </a:solidFill>
                <a:latin typeface="Calibri"/>
              </a:rPr>
              <a:t>A+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1417320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qwen3:14b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141732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Hybrid + LLM advisor/search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1700784"/>
            <a:ext cx="54864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1700784"/>
            <a:ext cx="21945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0" y="1700784"/>
            <a:ext cx="100584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1700784"/>
            <a:ext cx="73152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1700784"/>
            <a:ext cx="17373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1700784"/>
            <a:ext cx="5394960" cy="329184"/>
          </a:xfrm>
          <a:prstGeom prst="rect">
            <a:avLst/>
          </a:prstGeom>
          <a:solidFill>
            <a:srgbClr val="EEEEEE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1746504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9AA0A6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174650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Mayari-LLM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2" y="1746504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87.0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87952" y="174650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E884E"/>
                </a:solidFill>
                <a:latin typeface="Calibr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9472" y="1746504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174650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MayariBot + LLM consultation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029967"/>
            <a:ext cx="548640" cy="329184"/>
          </a:xfrm>
          <a:prstGeom prst="rect">
            <a:avLst/>
          </a:prstGeom>
          <a:solidFill>
            <a:srgbClr val="F6E4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2029967"/>
            <a:ext cx="2194560" cy="329184"/>
          </a:xfrm>
          <a:prstGeom prst="rect">
            <a:avLst/>
          </a:prstGeom>
          <a:solidFill>
            <a:srgbClr val="F6E4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08960" y="2029967"/>
            <a:ext cx="1005840" cy="329184"/>
          </a:xfrm>
          <a:prstGeom prst="rect">
            <a:avLst/>
          </a:prstGeom>
          <a:solidFill>
            <a:srgbClr val="F6E4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0" y="2029967"/>
            <a:ext cx="731520" cy="329184"/>
          </a:xfrm>
          <a:prstGeom prst="rect">
            <a:avLst/>
          </a:prstGeom>
          <a:solidFill>
            <a:srgbClr val="F6E4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46320" y="2029967"/>
            <a:ext cx="1737360" cy="329184"/>
          </a:xfrm>
          <a:prstGeom prst="rect">
            <a:avLst/>
          </a:prstGeom>
          <a:solidFill>
            <a:srgbClr val="F6E4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0" y="2029967"/>
            <a:ext cx="5394960" cy="329184"/>
          </a:xfrm>
          <a:prstGeom prst="rect">
            <a:avLst/>
          </a:prstGeom>
          <a:solidFill>
            <a:srgbClr val="F6E4D0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2075687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B06A2C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" y="2075687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HOPE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82112" y="2075687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79.0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87952" y="2075687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336FB8"/>
                </a:solidFill>
                <a:latin typeface="Calibri"/>
              </a:rPr>
              <a:t>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2075687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2075687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Ollama + MCTS + prediction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359152"/>
            <a:ext cx="548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2359152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08960" y="2359152"/>
            <a:ext cx="1005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0" y="2359152"/>
            <a:ext cx="731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46320" y="2359152"/>
            <a:ext cx="17373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83680" y="2359152"/>
            <a:ext cx="53949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2404872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" y="24048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Chase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2112" y="240487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69.0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87952" y="2404872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36B18"/>
                </a:solidFill>
                <a:latin typeface="Calibri"/>
              </a:rPr>
              <a:t>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19472" y="2404872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56832" y="240487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Rush engine + advisor every ~500 ticks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2688336"/>
            <a:ext cx="5486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4400" y="2688336"/>
            <a:ext cx="21945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108960" y="2688336"/>
            <a:ext cx="10058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0" y="2688336"/>
            <a:ext cx="73152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46320" y="2688336"/>
            <a:ext cx="17373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83680" y="2688336"/>
            <a:ext cx="53949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2734056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" y="273405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yebot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82112" y="2734056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69.0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87952" y="2734056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36B18"/>
                </a:solidFill>
                <a:latin typeface="Calibri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19472" y="2734056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qwen3:8b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56832" y="2734056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Macro-LLM + hard-coded micro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017520"/>
            <a:ext cx="548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14400" y="3017520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08960" y="3017520"/>
            <a:ext cx="1005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14800" y="3017520"/>
            <a:ext cx="731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846320" y="3017520"/>
            <a:ext cx="17373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83680" y="3017520"/>
            <a:ext cx="53949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8912" y="306324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7552" y="306324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Fortress Bot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82112" y="306324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57.5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87952" y="306324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44621"/>
                </a:solidFill>
                <a:latin typeface="Calibri"/>
              </a:rPr>
              <a:t>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19472" y="3063240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56832" y="30632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LLM planner + scripted opening + rush mirrors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3346704"/>
            <a:ext cx="5486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" y="3346704"/>
            <a:ext cx="21945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108960" y="3346704"/>
            <a:ext cx="10058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114800" y="3346704"/>
            <a:ext cx="73152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846320" y="3346704"/>
            <a:ext cx="17373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80" y="3346704"/>
            <a:ext cx="53949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8912" y="3392424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7552" y="339242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PenguinBot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82112" y="3392424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54.0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187952" y="339242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44621"/>
                </a:solidFill>
                <a:latin typeface="Calibri"/>
              </a:rPr>
              <a:t>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19472" y="3392424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656832" y="339242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NaiveMCTS + LLM stance controller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" y="3675887"/>
            <a:ext cx="548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" y="3675887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108960" y="3675887"/>
            <a:ext cx="1005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114800" y="3675887"/>
            <a:ext cx="731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846320" y="3675887"/>
            <a:ext cx="17373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583680" y="3675887"/>
            <a:ext cx="53949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8912" y="3721607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7552" y="3721607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xiebot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82112" y="3721607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54.0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87952" y="3721607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44621"/>
                </a:solidFill>
                <a:latin typeface="Calibri"/>
              </a:rPr>
              <a:t>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919472" y="3721607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56832" y="3721607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LLM planner + selective tactical MCTS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65760" y="4005072"/>
            <a:ext cx="5486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14400" y="4005072"/>
            <a:ext cx="21945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108960" y="4005072"/>
            <a:ext cx="10058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114800" y="4005072"/>
            <a:ext cx="73152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46320" y="4005072"/>
            <a:ext cx="17373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583680" y="4005072"/>
            <a:ext cx="53949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38912" y="4050792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9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7552" y="405079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jmurr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82112" y="405079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35.0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187952" y="4050792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8E1616"/>
                </a:solidFill>
                <a:latin typeface="Calibri"/>
              </a:rPr>
              <a:t>F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19472" y="4050792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none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56832" y="405079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Symmetric self/opponent state eval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4334256"/>
            <a:ext cx="548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14400" y="4334256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108960" y="4334256"/>
            <a:ext cx="1005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14800" y="4334256"/>
            <a:ext cx="731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846320" y="4334256"/>
            <a:ext cx="17373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583680" y="4334256"/>
            <a:ext cx="53949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8912" y="4379976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10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87552" y="4379976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AI4PC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82112" y="4379976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33.8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87952" y="4379976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8E1616"/>
                </a:solidFill>
                <a:latin typeface="Calibri"/>
              </a:rPr>
              <a:t>F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919472" y="4379976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56832" y="4379976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LLM picks rush every 100 ticks (counter-triangle)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65760" y="4663440"/>
            <a:ext cx="5486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14400" y="4663440"/>
            <a:ext cx="21945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108960" y="4663440"/>
            <a:ext cx="10058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114800" y="4663440"/>
            <a:ext cx="73152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4846320" y="4663440"/>
            <a:ext cx="17373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583680" y="4663440"/>
            <a:ext cx="53949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38912" y="4709160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11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87552" y="47091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Parker's Bot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182112" y="47091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33.0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87952" y="470916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8E1616"/>
                </a:solidFill>
                <a:latin typeface="Calibri"/>
              </a:rPr>
              <a:t>F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919472" y="4709160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656832" y="47091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LLM-guided adaptive rush + fallback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5760" y="4992624"/>
            <a:ext cx="548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14400" y="4992624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108960" y="4992624"/>
            <a:ext cx="1005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4114800" y="4992624"/>
            <a:ext cx="731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846320" y="4992624"/>
            <a:ext cx="17373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583680" y="4992624"/>
            <a:ext cx="53949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38912" y="5038344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87552" y="5038344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jmurrllm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182112" y="5038344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24.0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187952" y="503834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8E1616"/>
                </a:solidFill>
                <a:latin typeface="Calibri"/>
              </a:rPr>
              <a:t>F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919472" y="5038344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56832" y="5038344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Light-rush opener + LLM classifier + counter table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65760" y="5321808"/>
            <a:ext cx="5486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14400" y="5321808"/>
            <a:ext cx="21945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3108960" y="5321808"/>
            <a:ext cx="100584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114800" y="5321808"/>
            <a:ext cx="73152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846320" y="5321808"/>
            <a:ext cx="17373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583680" y="5321808"/>
            <a:ext cx="5394960" cy="329184"/>
          </a:xfrm>
          <a:prstGeom prst="rect">
            <a:avLst/>
          </a:prstGeom>
          <a:solidFill>
            <a:srgbClr val="F2F4F8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38912" y="5367528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13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87552" y="536752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EAGLE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182112" y="5367528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3.8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187952" y="5367528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8E1616"/>
                </a:solidFill>
                <a:latin typeface="Calibri"/>
              </a:rPr>
              <a:t>F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919472" y="5367528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llama3.1:8b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656832" y="5367528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Structured prompt policy, role-based workers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65760" y="5650992"/>
            <a:ext cx="548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14400" y="5650992"/>
            <a:ext cx="21945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108960" y="5650992"/>
            <a:ext cx="10058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4114800" y="5650992"/>
            <a:ext cx="7315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846320" y="5650992"/>
            <a:ext cx="17373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583680" y="5650992"/>
            <a:ext cx="53949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5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38912" y="5696712"/>
            <a:ext cx="457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87552" y="569671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Adil Bot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82112" y="56967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1F293A"/>
                </a:solidFill>
                <a:latin typeface="Calibri"/>
              </a:rPr>
              <a:t>3.8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187952" y="5696712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8E1616"/>
                </a:solidFill>
                <a:latin typeface="Calibri"/>
              </a:rPr>
              <a:t>F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919472" y="5696712"/>
            <a:ext cx="164591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none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656832" y="5696712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F293A"/>
                </a:solidFill>
                <a:latin typeface="Calibri"/>
              </a:rPr>
              <a:t>Rule-based: harvest/build/train + early rush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🏆 Champion: AlliBot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Score 100.5 · Grade A+ · Model qwen3:14b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The only A+ submission, and the only agent to complete the full 4-map gauntlet.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41148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293A"/>
                </a:solidFill>
              </a:rPr>
              <a:t>• Mayari-derived hybrid macro/micro execution layer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A"/>
                </a:solidFill>
              </a:rPr>
              <a:t>• Rush-defense rule set: counter-build vs. visible enemy composition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A"/>
                </a:solidFill>
              </a:rPr>
              <a:t>• Small-map (4×4 / 8×8) WorkerRush delegation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A"/>
                </a:solidFill>
              </a:rPr>
              <a:t>• qwen3:14b advisor: high-level strategic guidance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A"/>
                </a:solidFill>
              </a:rPr>
              <a:t>• Search component biased by LLM priors over actions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293A"/>
                </a:solidFill>
              </a:rPr>
              <a:t>• Deterministic fallback if LLM stalls (latency budget)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486400" cy="41148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02A54"/>
                </a:solidFill>
                <a:latin typeface="Calibri"/>
              </a:rPr>
              <a:t>Per-map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40280"/>
            <a:ext cx="1097280" cy="502920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2240280"/>
            <a:ext cx="1097280" cy="502920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2240280"/>
            <a:ext cx="1097280" cy="502920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240280"/>
            <a:ext cx="2194560" cy="502920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591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3591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5915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359152"/>
            <a:ext cx="20116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Eliminated by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7432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27432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0" y="274320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74320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86207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8×8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286207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69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86207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862072"/>
            <a:ext cx="20116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Tiamat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24612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324612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324612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324612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36499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16×16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36499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117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36499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884E"/>
                </a:solidFill>
                <a:latin typeface="Calibri"/>
              </a:rPr>
              <a:t>A+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364992"/>
            <a:ext cx="20116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4904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374904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374904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374904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8679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32×32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38679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96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86791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884E"/>
                </a:solidFill>
                <a:latin typeface="Calibri"/>
              </a:rPr>
              <a:t>A+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3867912"/>
            <a:ext cx="20116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CoacAI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2519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79" y="42519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4251960"/>
            <a:ext cx="10972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92640" y="425196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3708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64×64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19" y="43708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120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3708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E884E"/>
                </a:solidFill>
                <a:latin typeface="Calibri"/>
              </a:rPr>
              <a:t>A+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4370832"/>
            <a:ext cx="201167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F293A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9436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Headline: AlliBot is the only entry to beat CoacAI on any map (32×32, 2W–1L) and to score A+ on three of four maps.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Five Design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How teams composed LLMs with classical game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09728" cy="100584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/>
              </a:rPr>
              <a:t>1.  MCTS + LLM 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07899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36B18"/>
                </a:solidFill>
                <a:latin typeface="Calibri"/>
              </a:rPr>
              <a:t>Search-led, LLM-advised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8988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Teams: PenguinBot · HOPE · xiebot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Tree search drives micro; LLM is consulted every few hundred ticks to bias exploration toward ATTACK/DEFEND or to set macro priors.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247120" cy="10058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109728" cy="100584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76272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/>
              </a:rPr>
              <a:t>2.  LLM strategy controller over scripted rushes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7627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36B18"/>
                </a:solidFill>
                <a:latin typeface="Calibri"/>
              </a:rPr>
              <a:t>Script-led, LLM-routed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8716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Teams: AI4PC · Parker's Bot · Chase · Fortress Bot · jmurrllm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Each tick is executed by a canonical rush bot (Worker/Light/Heavy/Ranged); LLM picks which rush — often with a counter-triangle fallback.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11247120" cy="10058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109728" cy="100584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73552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/>
              </a:rPr>
              <a:t>3.  Hybrid macro/micro with LLM macro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7355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36B18"/>
                </a:solidFill>
                <a:latin typeface="Calibri"/>
              </a:rPr>
              <a:t>LLM-led, scripted micro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8444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Teams: AlliBot · Mayari-LLM · yebot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LLM proposes goals; deterministic code handles harvesting, building, and combat micro. Top performers cluster here.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47120" cy="10058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109728" cy="100584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70832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/>
              </a:rPr>
              <a:t>4.  Pure-prompt LLM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37083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36B18"/>
                </a:solidFill>
                <a:latin typeface="Calibri"/>
              </a:rPr>
              <a:t>LLM-only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8172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Teams: EAGLE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Every action generated from a structured prompt under rule constraints. Heavy latency cost — hard to clear even the weakest anchor.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94960"/>
            <a:ext cx="11247120" cy="100584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94960"/>
            <a:ext cx="109728" cy="100584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68112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02A54"/>
                </a:solidFill>
                <a:latin typeface="Calibri"/>
              </a:rPr>
              <a:t>5.  Heuristic / no-LLM baselines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468112"/>
            <a:ext cx="4389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E36B18"/>
                </a:solidFill>
                <a:latin typeface="Calibri"/>
              </a:rPr>
              <a:t>No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79008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F293A"/>
                </a:solidFill>
                <a:latin typeface="Calibri"/>
              </a:rPr>
              <a:t>Teams: jmurr · Adil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Submitted to measure how much the LLM layer is actually worth.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Worked · What Didn't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Lessons from 15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577840" cy="5120640"/>
          </a:xfrm>
          <a:prstGeom prst="rect">
            <a:avLst/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577840" cy="457200"/>
          </a:xfrm>
          <a:prstGeom prst="rect">
            <a:avLst/>
          </a:prstGeom>
          <a:solidFill>
            <a:srgbClr val="1E8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✓  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Hybrid architectures dominated.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9280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Every A/B-grade entry kept the LLM out of the per-tick loop and used it as a strategic advisor (100–500 ticks).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Stronger models translated to wins…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008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…when the rest of the stack was sound. AlliBot (qwen3:14b) is the only A+. yebot (qwen3:8b) edges out llama3.1:8b peers.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Counter-triangle reasoning recurs.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8736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Light beats Ranged · Heavy beats Light · Ranged beats Heavy — appears in 5 entries, reliable at 8×8.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Deterministic fallback paths.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8464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Every top-half entry has a heuristic plan B if the LLM stalls or returns invalid JSON.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5577840" cy="5120640"/>
          </a:xfrm>
          <a:prstGeom prst="rect">
            <a:avLst/>
          </a:prstGeom>
          <a:solidFill>
            <a:srgbClr val="FA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005840"/>
            <a:ext cx="5577840" cy="457200"/>
          </a:xfrm>
          <a:prstGeom prst="rect">
            <a:avLst/>
          </a:prstGeom>
          <a:solidFill>
            <a:srgbClr val="8E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09728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✗  What didn't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0020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Per-tick LLM prompting.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9280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EAGLE (pure-prompt policy) struggled with action validity and latency — could not reliably beat RandomBiasedAI.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69748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Small-map tuning rarely transferred.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99008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Mayari-LLM scored A+ on 16×16 but D on 8×8. Map-specific heuristics broke under different cycle budgets.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79476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Stickiness without re-evaluation.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08736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Per-100-tick strategy pickers (AI4PC) lost on larger maps where the opponent's composition shifted faster than polling.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892040"/>
            <a:ext cx="5303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F293A"/>
                </a:solidFill>
                <a:latin typeface="Calibri"/>
              </a:rPr>
              <a:t>Tiamat was the bottleneck.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84648"/>
            <a:ext cx="53035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Tiamat eliminated 3 top-half entries. Only AlliBot beat it on any map.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Per-Map Performance — Top Finishers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FD8E3"/>
                </a:solidFill>
                <a:latin typeface="Calibri"/>
              </a:rPr>
              <a:t>Score per map · grade · anchor that eliminated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377440" cy="621792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52144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097280"/>
            <a:ext cx="2103120" cy="621792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15214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8×8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097280"/>
            <a:ext cx="2103120" cy="621792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115214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16×16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097280"/>
            <a:ext cx="2103120" cy="621792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15214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32×32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097280"/>
            <a:ext cx="2103120" cy="621792"/>
          </a:xfrm>
          <a:prstGeom prst="rect">
            <a:avLst/>
          </a:prstGeom>
          <a:solidFill>
            <a:srgbClr val="102A54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15214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64×64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719072"/>
            <a:ext cx="237744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73936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93A"/>
                </a:solidFill>
                <a:latin typeface="Calibri"/>
              </a:rPr>
              <a:t>AlliBot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1719072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177393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69 C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Tiamat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719072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177393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117 A+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719072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77393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96 A+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CoacAI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719072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77393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120 A+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395728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93A"/>
                </a:solidFill>
                <a:latin typeface="Calibri"/>
              </a:rPr>
              <a:t>Mayari-LLM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2340864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39572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54 D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WorkerRush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2340864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9" y="239572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120 A+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340864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239572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340864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239572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62656"/>
            <a:ext cx="237744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017520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93A"/>
                </a:solidFill>
                <a:latin typeface="Calibri"/>
              </a:rPr>
              <a:t>HOPE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2962656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3017520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79 B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advanced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2962656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79" y="3017520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2962656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3017520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9760" y="2962656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3017520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584448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639312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93A"/>
                </a:solidFill>
                <a:latin typeface="Calibri"/>
              </a:rPr>
              <a:t>Chase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584448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3639312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69 C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advanced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584448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79" y="3639312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3584448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3639312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3584448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3639312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206240"/>
            <a:ext cx="237744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261104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93A"/>
                </a:solidFill>
                <a:latin typeface="Calibri"/>
              </a:rPr>
              <a:t>yebot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4206240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0" y="426110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69 C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advanced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0" y="4206240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12079" y="426110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4206240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426110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09760" y="4206240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4261104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828032"/>
            <a:ext cx="23774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4882896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93A"/>
                </a:solidFill>
                <a:latin typeface="Calibri"/>
              </a:rPr>
              <a:t>Fortress Bot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80" y="4828032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0" y="488289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79 B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Tiamat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20640" y="4828032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79" y="488289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36 F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LightRush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4828032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0" y="488289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4828032"/>
            <a:ext cx="2103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01200" y="4882896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— not run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449824"/>
            <a:ext cx="237744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504688"/>
            <a:ext cx="224028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293A"/>
                </a:solidFill>
                <a:latin typeface="Calibri"/>
              </a:rPr>
              <a:t>AI4PC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26080" y="5449824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17520" y="550468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79 B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Tiamat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120640" y="5449824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12079" y="550468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22 F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HeavyRush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15200" y="5449824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06640" y="550468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22 F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HeavyRush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09760" y="5449824"/>
            <a:ext cx="2103120" cy="621792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01200" y="5504688"/>
            <a:ext cx="1965960" cy="5303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12 F</a:t>
            </a:r>
          </a:p>
          <a:p>
            <a:pPr algn="l"/>
            <a:r>
              <a:rPr sz="1100" b="0">
                <a:solidFill>
                  <a:srgbClr val="1F293A"/>
                </a:solidFill>
                <a:latin typeface="Calibri"/>
              </a:rPr>
              <a:t>HeavyRush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6B7380"/>
                </a:solidFill>
                <a:latin typeface="Calibri"/>
              </a:rPr>
              <a:t>Only AlliBot completed all four maps; only AlliBot beat CoacAI on any map.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577840" cy="128016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37160" cy="128016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39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02A54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0876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teams submitted via GitHub PR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5577840" cy="128016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137160" cy="128016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39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02A54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50876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agent binaries evaluated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14600"/>
            <a:ext cx="5577840" cy="128016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137160" cy="128016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02A54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92608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A+ submission (AlliBot, 100.5)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514600"/>
            <a:ext cx="5577840" cy="128016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514600"/>
            <a:ext cx="137160" cy="128016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02A54"/>
                </a:solidFill>
                <a:latin typeface="Calibri"/>
              </a:rPr>
              <a:t>38%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92608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of teams scored C or higher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28016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137160" cy="128016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02A54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343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different LLMs used: llama3.1:8b · qwen3:14b · qwen3:8b · gpt-5 (dev)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931920"/>
            <a:ext cx="5577840" cy="128016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931920"/>
            <a:ext cx="137160" cy="128016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06908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02A54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343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no-LLM/heuristic baselines (control group)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5577840" cy="1280160"/>
          </a:xfrm>
          <a:prstGeom prst="rect">
            <a:avLst/>
          </a:prstGeom>
          <a:solidFill>
            <a:srgbClr val="F2F4F8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49240"/>
            <a:ext cx="137160" cy="1280160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8640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02A54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76072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agent beat CoacAI on a map (AlliBot, 32×32)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Work &amp; Acknowledgments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Toward the 2027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93A"/>
                </a:solidFill>
              </a:rPr>
              <a:t>•  Multiple games per matchup (variance reduction) and per-anchor seeds.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A"/>
                </a:solidFill>
              </a:rPr>
              <a:t>•  Standardize LLM latency budget reporting to compare hybrid designs fairly.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A"/>
                </a:solidFill>
              </a:rPr>
              <a:t>•  Allow team-selected model on the server, paired with a fixed compute cap.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A"/>
                </a:solidFill>
              </a:rPr>
              <a:t>•  Add stronger anchors (POLightRush, NaiveMCTS+) to better separate A+/A entries.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93A"/>
                </a:solidFill>
              </a:rPr>
              <a:t>•  Per-game replay viewer hosted on the leaderboard site for transparency.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02A54"/>
                </a:solidFill>
                <a:latin typeface="Calibri"/>
              </a:rPr>
              <a:t>Acknowledgments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97280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• All 13 teams for their submissions and reproducible code.</a:t>
            </a:r>
          </a:p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• Santi Ontañón, Levi Lelis, and Rubens O. Moraes for the open MicroRTS engine.</a:t>
            </a:r>
          </a:p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• IEEE WCCI 2026 competition committee for hosting the track.</a:t>
            </a:r>
          </a:p>
          <a:p>
            <a:pPr algn="l"/>
            <a:r>
              <a:rPr sz="1400" b="0">
                <a:solidFill>
                  <a:srgbClr val="1F293A"/>
                </a:solidFill>
                <a:latin typeface="Calibri"/>
              </a:rPr>
              <a:t>• Submissions, logs, and per-game results: github.com/drchangliu/MicroRTS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6B7380"/>
                </a:solidFill>
                <a:latin typeface="Calibri"/>
              </a:rPr>
              <a:t>2026 IEEE WCCI · MicroRTS LLM Game AI 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6B73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E36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CFD8E3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E36B18"/>
                </a:solidFill>
                <a:latin typeface="Calibri"/>
              </a:rPr>
              <a:t>drchangliu.github.io/MicroRTS  ·  github.com/drchangliu/MicroRTS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Submissions remain open — try the 2027 leaderboard at the same address.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