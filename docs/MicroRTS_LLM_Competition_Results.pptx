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73152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MicroRTS LLM Game AI 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CFD8E3"/>
                </a:solidFill>
                <a:latin typeface="Calibri"/>
              </a:rPr>
              <a:t>Final Results &amp;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E36B18"/>
                </a:solidFill>
                <a:latin typeface="Calibri"/>
              </a:rPr>
              <a:t>2026 IEEE World Congress on Computational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Organizers: Chang Liu et al.   ·   13 teams   ·   15 agents evaluated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github.com/drchangliu/MicroRTS  ·  drchangliu.github.io/MicroRTS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Competition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What we asked the teams to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02A54"/>
                </a:solidFill>
                <a:latin typeface="Calibri"/>
              </a:rPr>
              <a:t>Build an LLM-powered MicroRTS agent — no training, no fine-tuning, prompt-only.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1F293A"/>
                </a:solidFill>
              </a:rPr>
              <a:t>•  MicroRTS: open Java RTS benchmark (Ontañón et al.) — workers, light/heavy/ranged units, bases, barracks.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293A"/>
                </a:solidFill>
              </a:rPr>
              <a:t>•  Agents read the game state, prompt an LLM, parse JSON moves, and submit them per tick.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293A"/>
                </a:solidFill>
              </a:rPr>
              <a:t>•  Success requires prompt engineering and strategy design, not weight updates.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293A"/>
                </a:solidFill>
              </a:rPr>
              <a:t>•  Submission via GitHub PR; central server compiled and ran each agent against a six-anchor ladder.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293A"/>
                </a:solidFill>
              </a:rPr>
              <a:t>•  Tests LLM reasoning, planning, and instruction-following under hard real-time constraints.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5120640"/>
            <a:ext cx="3291840" cy="13716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5166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By the numbers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5486400"/>
            <a:ext cx="31089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13 teams  ·  15 binaries</a:t>
            </a:r>
          </a:p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4 map sizes (8×8 → 64×64)</a:t>
            </a:r>
          </a:p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6 anchor opponents</a:t>
            </a:r>
          </a:p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 A+ submission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Tournament Format &amp;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Single-elimination, multi-map 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Map gauntlet (per agent)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365760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1417320"/>
            <a:ext cx="164592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72184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472184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Cycle cap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01368"/>
            <a:ext cx="36576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1801368"/>
            <a:ext cx="16459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856232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8×8  basesWorkers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856232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1,500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85416"/>
            <a:ext cx="36576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0" y="2185416"/>
            <a:ext cx="16459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24028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16×16 basesWorkers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24028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3,000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569464"/>
            <a:ext cx="36576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0" y="2569464"/>
            <a:ext cx="16459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624328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32×32 basesWorkers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624328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53512"/>
            <a:ext cx="36576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0" y="2953512"/>
            <a:ext cx="16459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008376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64×64 GardenOfWar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008376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8,000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0058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Anchor opponents (weight)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1417320"/>
            <a:ext cx="274320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1120" y="1417320"/>
            <a:ext cx="155448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515600" y="1417320"/>
            <a:ext cx="118872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1472184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Opponent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1472184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1472184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Weight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1801368"/>
            <a:ext cx="27432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61120" y="1801368"/>
            <a:ext cx="155448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515600" y="1801368"/>
            <a:ext cx="11887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856232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RandomBiasedAI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1856232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easy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1856232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2185416"/>
            <a:ext cx="2743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61120" y="2185416"/>
            <a:ext cx="1554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515600" y="2185416"/>
            <a:ext cx="11887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2240280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WorkerRush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2240280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medium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40" y="2240280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2569464"/>
            <a:ext cx="27432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61120" y="2569464"/>
            <a:ext cx="155448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515600" y="2569464"/>
            <a:ext cx="11887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2624328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LightRush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262432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medium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0" y="2624328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2953512"/>
            <a:ext cx="2743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61120" y="2953512"/>
            <a:ext cx="1554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15600" y="2953512"/>
            <a:ext cx="11887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3008376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2560" y="3008376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medium-hard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07040" y="3008376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61120" y="3337560"/>
            <a:ext cx="155448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515600" y="3337560"/>
            <a:ext cx="11887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60" y="3392424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52560" y="3392424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hard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07040" y="3392424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3721608"/>
            <a:ext cx="2743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61120" y="3721608"/>
            <a:ext cx="1554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515600" y="3721608"/>
            <a:ext cx="11887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9360" y="3776472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CoacAI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52560" y="3776472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hard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07040" y="3776472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20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4480560"/>
            <a:ext cx="1124712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Scoring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Weighted points per win (1.0) and draw (0.5), averaged across maps. A loss to an anchor stops that map (single-elimination) and the agent banks whatever it earned reaching that anchor.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Grades:  A+ ≥ 90    ·    A ≥ 80    ·    B ≥ 70    ·    C ≥ 60    ·    D ≥ 40    ·    F &lt; 40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Default server model: llama3.1:8b (Ollama). Teams could declare a preferred model.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Final Leaderboard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Best score per team across all tournament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54864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060704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005840"/>
            <a:ext cx="219456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06070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005840"/>
            <a:ext cx="100584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2" y="1060704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005840"/>
            <a:ext cx="73152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7952" y="106070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1005840"/>
            <a:ext cx="173736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9472" y="1060704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005840"/>
            <a:ext cx="539496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2" y="1060704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371600"/>
            <a:ext cx="54864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1371600"/>
            <a:ext cx="219456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08960" y="1371600"/>
            <a:ext cx="100584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371600"/>
            <a:ext cx="73152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46320" y="1371600"/>
            <a:ext cx="173736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0" y="1371600"/>
            <a:ext cx="539496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1417320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D4A017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141732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AlliBot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1417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100.5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87952" y="14173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2" y="1417320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qwen3:14b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141732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Hybrid + LLM advisor/search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1700784"/>
            <a:ext cx="54864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1700784"/>
            <a:ext cx="219456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8960" y="1700784"/>
            <a:ext cx="100584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0" y="1700784"/>
            <a:ext cx="73152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46320" y="1700784"/>
            <a:ext cx="173736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0" y="1700784"/>
            <a:ext cx="539496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1746504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9AA0A6"/>
                </a:solidFill>
                <a:latin typeface="Calibr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" y="174650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Mayari-LLM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82112" y="1746504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87.0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87952" y="174650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1E884E"/>
                </a:solidFill>
                <a:latin typeface="Calibri"/>
              </a:rPr>
              <a:t>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9472" y="1746504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56832" y="1746504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MayariBot + LLM consultation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2029967"/>
            <a:ext cx="54864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400" y="2029967"/>
            <a:ext cx="219456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08960" y="2029967"/>
            <a:ext cx="100584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14800" y="2029967"/>
            <a:ext cx="73152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46320" y="2029967"/>
            <a:ext cx="173736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83680" y="2029967"/>
            <a:ext cx="539496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2075687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B06A2C"/>
                </a:solidFill>
                <a:latin typeface="Calibri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" y="2075687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HOPE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82112" y="2075687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79.0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87952" y="2075687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336FB8"/>
                </a:solidFill>
                <a:latin typeface="Calibri"/>
              </a:rPr>
              <a:t>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9472" y="2075687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56832" y="2075687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Ollama + MCTS + prediction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2359152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4400" y="2359152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08960" y="2359152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14800" y="2359152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46320" y="2359152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583680" y="2359152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8912" y="2404872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552" y="240487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Chase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24048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69.0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7952" y="2404872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E36B18"/>
                </a:solidFill>
                <a:latin typeface="Calibri"/>
              </a:rPr>
              <a:t>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19472" y="2404872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56832" y="2404872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Rush engine + advisor every ~500 ticks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2688336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2688336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108960" y="2688336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0" y="2688336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846320" y="2688336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583680" y="2688336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8912" y="2734056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7552" y="2734056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yebot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82112" y="2734056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69.0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87952" y="2734056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E36B18"/>
                </a:solidFill>
                <a:latin typeface="Calibri"/>
              </a:rPr>
              <a:t>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9472" y="2734056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qwen3:8b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56832" y="2734056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Macro-LLM + hard-coded micro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017520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14400" y="3017520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08960" y="3017520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14800" y="3017520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46320" y="3017520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83680" y="3017520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8912" y="3063240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7552" y="306324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Fortress Bot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82112" y="306324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57.5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87952" y="3063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C44621"/>
                </a:solidFill>
                <a:latin typeface="Calibri"/>
              </a:rPr>
              <a:t>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19472" y="3063240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56832" y="306324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 planner + scripted opening + rush mirrors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3346704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3346704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108960" y="3346704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14800" y="3346704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846320" y="3346704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583680" y="3346704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8912" y="3392424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7552" y="339242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PenguinBot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82112" y="3392424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54.0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87952" y="339242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C44621"/>
                </a:solidFill>
                <a:latin typeface="Calibri"/>
              </a:rPr>
              <a:t>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19472" y="3392424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656832" y="3392424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NaiveMCTS + LLM stance controller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5760" y="3675887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14400" y="3675887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108960" y="3675887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114800" y="3675887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846320" y="3675887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583680" y="3675887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38912" y="3721607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7552" y="3721607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xiebot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82112" y="3721607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54.0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87952" y="3721607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C44621"/>
                </a:solidFill>
                <a:latin typeface="Calibri"/>
              </a:rPr>
              <a:t>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721607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656832" y="3721607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 planner + selective tactical MCTS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5760" y="4005072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14400" y="4005072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108960" y="4005072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114800" y="4005072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46320" y="4005072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583680" y="4005072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38912" y="4050792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87552" y="405079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jmurr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182112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35.0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187952" y="4050792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19472" y="4050792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none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56832" y="4050792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Symmetric self/opponent state eval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4334256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14400" y="4334256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108960" y="4334256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114800" y="4334256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846320" y="4334256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583680" y="4334256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38912" y="4379976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87552" y="4379976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AI4PC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182112" y="4379976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33.8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187952" y="4379976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19472" y="4379976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656832" y="4379976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 picks rush every 100 ticks (counter-triangle)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65760" y="4663440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914400" y="4663440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108960" y="4663440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114800" y="4663440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846320" y="4663440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583680" y="4663440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38912" y="4709160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87552" y="470916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Parker's Bot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82112" y="47091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33.0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87952" y="470916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919472" y="4709160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56832" y="47091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LLM-guided adaptive rush + fallback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65760" y="4992624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914400" y="4992624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08960" y="4992624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114800" y="4992624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846320" y="4992624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6583680" y="4992624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38912" y="5038344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87552" y="503834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jmurrllm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82112" y="5038344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24.0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3834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919472" y="5038344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656832" y="5038344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Light-rush opener + LLM classifier + counter table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65760" y="5321808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914400" y="5321808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108960" y="5321808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14800" y="5321808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846320" y="5321808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6583680" y="5321808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38912" y="5367528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87552" y="5367528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EAGLE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182112" y="5367528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3.8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187952" y="5367528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919472" y="5367528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656832" y="5367528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Structured prompt policy, role-based workers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65760" y="5650992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914400" y="5650992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108960" y="5650992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14800" y="5650992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846320" y="5650992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6583680" y="5650992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38912" y="5696712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7552" y="569671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Adil Bot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82112" y="56967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3.8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187952" y="5696712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19472" y="5696712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none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656832" y="5696712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Rule-based: harvest/build/train + early rush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🏆 Champion: AlliBot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Score 100.5 · Grade A+ · Model qwen3:14b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The only A+ submission, and the only agent to complete the full 4-map gauntlet.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486400" cy="41148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303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Mayari-derived hybrid macro/micro execution layer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Rush-defense rule set: counter-build vs. visible enemy composition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Small-map (4×4 / 8×8) WorkerRush delegation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qwen3:14b advisor: high-level strategic guidance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Search component biased by LLM priors over actions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Deterministic fallback if LLM stalls (latency budget)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486400" cy="41148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Per-map performance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240280"/>
            <a:ext cx="109728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240280"/>
            <a:ext cx="109728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95360" y="2240280"/>
            <a:ext cx="109728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92640" y="2240280"/>
            <a:ext cx="219456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3591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23591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591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235915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Eliminated by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7432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27432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95360" y="27432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92640" y="274320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8620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8×8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28620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69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8620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86207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79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95360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92640" y="324612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3649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16×16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19" y="33649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3649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36499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74904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98079" y="374904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95360" y="374904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92640" y="374904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3867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32×32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19" y="3867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96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3867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84080" y="386791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CoacAI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498079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595360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692640" y="425196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0" y="437083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64×64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19" y="437083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437083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37083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594360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Headline: AlliBot is the only entry to beat CoacAI on any map (32×32, 2W–1L) and to score A+ on three of four maps.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Five Design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How teams composed LLMs with classical game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1.  MCTS + LLM 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07899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Search-led, LLM-advised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8988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PenguinBot · HOPE · xiebot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459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Tree search drives micro; LLM is consulted every few hundred ticks to bias exploration toward ATTACK/DEFEND or to set macro priors.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0312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0312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7627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2.  LLM strategy controller over scripted rushes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7627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Script-led, LLM-routed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48716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AI4PC · Parker's Bot · Chase · Fortress Bot · jmurrllm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743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Each tick is executed by a canonical rush bot (Worker/Light/Heavy/Ranged); LLM picks which rush — often with a counter-triangle fallback.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0040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0040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7355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3.  Hybrid macro/micro with LLM macro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27355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LLM-led, scripted micro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58444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AlliBot · Mayari-LLM · yebot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40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LLM proposes goals; deterministic code handles harvesting, building, and combat micro. Top performers cluster here.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9768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29768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37083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4.  Pure-prompt LLM policy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37083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LLM-only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68172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EAGLE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Every action generated from a structured prompt under rule constraints. Heavy latency cost — hard to clear even the weakest anchor.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39496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46811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5.  Heuristic / no-LLM baselines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46811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No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77900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jmurr · Adil Bot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035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Submitted to measure how much the LLM layer is actually worth.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Worked · What Didn't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Lessons from 15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577840" cy="5120640"/>
          </a:xfrm>
          <a:prstGeom prst="rect">
            <a:avLst/>
          </a:prstGeom>
          <a:solidFill>
            <a:srgbClr val="E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577840" cy="457200"/>
          </a:xfrm>
          <a:prstGeom prst="rect">
            <a:avLst/>
          </a:prstGeom>
          <a:solidFill>
            <a:srgbClr val="1E8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09728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✓  What worked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Hybrid architectures dominated.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9280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Every A/B-grade entry kept the LLM out of the per-tick loop and used it as a strategic advisor (100–500 ticks).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Stronger models translated to wins…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…when the rest of the stack was sound. AlliBot (qwen3:14b) is the only A+. yebot (qwen3:8b) edges out llama3.1:8b peers.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Counter-triangle reasoning recurs.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8736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Light beats Ranged · Heavy beats Light · Ranged beats Heavy — appears in 5 entries, reliable at 8×8.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Deterministic fallback paths.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8464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Every top-half entry has a heuristic plan B if the LLM stalls or returns invalid JSON.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005840"/>
            <a:ext cx="5577840" cy="5120640"/>
          </a:xfrm>
          <a:prstGeom prst="rect">
            <a:avLst/>
          </a:prstGeom>
          <a:solidFill>
            <a:srgbClr val="FA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005840"/>
            <a:ext cx="5577840" cy="457200"/>
          </a:xfrm>
          <a:prstGeom prst="rect">
            <a:avLst/>
          </a:prstGeom>
          <a:solidFill>
            <a:srgbClr val="8E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09728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✗  What didn't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60020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Per-tick LLM prompting.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9280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EAGLE (pure-prompt policy) struggled with action validity and latency — could not reliably beat RandomBiasedAI.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6974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Small-map tuning rarely transferred.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99008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Mayari-LLM scored A+ on 16×16 but D on 8×8. Map-specific heuristics broke under different cycle budgets.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7947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Stickiness without re-evaluation.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08736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Per-100-tick strategy pickers (AI4PC) lost on larger maps where the opponent's composition shifted faster than polling.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89204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Tiamat was the bottleneck.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18464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 eliminated 3 top-half entries. Only AlliBot beat it on any map.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Per-Map Performance — Top Finishers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Score per map · grade · anchor that eliminated the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237744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52144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15214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8×8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9" y="115214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16×16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115214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32×32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0" y="115214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64×64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719072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773936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AlliBot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17520" y="177393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69 C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79" y="177393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117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177393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96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CoacAI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177393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120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340864"/>
            <a:ext cx="23774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395728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Mayari-LLM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239572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54 D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WorkerRush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79" y="239572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120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06640" y="239572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0" y="239572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962656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017520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HOPE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8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17520" y="3017520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79 B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advanced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12079" y="3017520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06640" y="3017520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76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0" y="3017520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584448"/>
            <a:ext cx="23774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639312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Chase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3639312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69 C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advanced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12079" y="3639312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06640" y="3639312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0976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01200" y="3639312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206240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4261104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yebot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017520" y="426110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69 C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advanced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79" y="426110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0" y="426110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976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01200" y="426110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4828032"/>
            <a:ext cx="23774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4882896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Fortress Bot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2608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017520" y="488289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79 B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2064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12079" y="488289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36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LightRush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1520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06640" y="488289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0976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601200" y="488289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7200" y="5449824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5504688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AI4PC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2608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17520" y="550468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79 B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12064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212079" y="550468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22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31520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06640" y="550468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22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50976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01200" y="550468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12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Only AlliBot completed all four maps; only AlliBot beat CoacAI on any map.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34439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50876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teams submitted via GitHub PR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9728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09728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234439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50876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agent binaries evaluated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65176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2608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A+ submission (AlliBot, 100.5)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51460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251460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5176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38%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92608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of teams scored C or higher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192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2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6908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different LLMs used: llama3.1:8b · qwen3:14b · qwen3:8b · gpt-5 (dev)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393192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393192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06908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434340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no-LLM/heuristic baselines (control group)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34924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34924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8640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76072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agent beat CoacAI on a map (AlliBot, 32×32)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Future Work &amp; Acknowledgments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Toward the 2027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Multiple games per matchup (variance reduction) and per-anchor seeds.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Standardize LLM latency budget reporting to compare hybrid designs fairly.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Allow team-selected model on the server, paired with a fixed compute cap.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Add stronger anchors (POLightRush, NaiveMCTS+) to better separate A+/A entries.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Per-game replay viewer hosted on the leaderboard site for transparency.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14800"/>
            <a:ext cx="11247120" cy="21031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Acknowledgments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1097280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All 13 teams for their submissions and reproducible code.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Santi Ontañón and collaborators for the open MicroRTS engine.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IEEE WCCI 2026 competition committee for hosting the track.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Submissions, logs, and per-game results: github.com/drchangliu/MicroRTS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73152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FD8E3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E36B18"/>
                </a:solidFill>
                <a:latin typeface="Calibri"/>
              </a:rPr>
              <a:t>drchangliu.github.io/MicroRTS  ·  github.com/drchangliu/MicroRTS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778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Submissions remain open — try the 2027 leaderboard at the same address.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