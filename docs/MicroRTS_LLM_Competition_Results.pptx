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3"/>
  </p:normalViewPr>
  <p:slideViewPr>
    <p:cSldViewPr snapToGrid="0" snapToObjects="1">
      <p:cViewPr varScale="1">
        <p:scale>
          <a:sx n="120" d="100"/>
          <a:sy n="120" d="100"/>
        </p:scale>
        <p:origin x="44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73152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MicroRTS LLM Game AI 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800" b="0">
                <a:solidFill>
                  <a:srgbClr val="CFD8E3"/>
                </a:solidFill>
                <a:latin typeface="Calibri"/>
              </a:rPr>
              <a:t>Final Results &amp;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1">
                <a:solidFill>
                  <a:srgbClr val="E36B18"/>
                </a:solidFill>
                <a:latin typeface="Calibri"/>
              </a:rPr>
              <a:t>2026 IEEE World Congress on Computational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Organizers: Chang Liu et al.   ·   13 teams   ·   15 agents evaluated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 dirty="0" err="1">
                <a:solidFill>
                  <a:srgbClr val="CFD8E3"/>
                </a:solidFill>
                <a:latin typeface="Calibri"/>
              </a:rPr>
              <a:t>github.com</a:t>
            </a:r>
            <a:r>
              <a:rPr sz="1200" b="0" dirty="0">
                <a:solidFill>
                  <a:srgbClr val="CFD8E3"/>
                </a:solidFill>
                <a:latin typeface="Calibri"/>
              </a:rPr>
              <a:t>/</a:t>
            </a:r>
            <a:r>
              <a:rPr sz="1200" b="0" dirty="0" err="1">
                <a:solidFill>
                  <a:srgbClr val="CFD8E3"/>
                </a:solidFill>
                <a:latin typeface="Calibri"/>
              </a:rPr>
              <a:t>drchangliu</a:t>
            </a:r>
            <a:r>
              <a:rPr sz="1200" b="0" dirty="0">
                <a:solidFill>
                  <a:srgbClr val="CFD8E3"/>
                </a:solidFill>
                <a:latin typeface="Calibri"/>
              </a:rPr>
              <a:t>/</a:t>
            </a:r>
            <a:r>
              <a:rPr sz="1200" b="0" dirty="0" err="1">
                <a:solidFill>
                  <a:srgbClr val="CFD8E3"/>
                </a:solidFill>
                <a:latin typeface="Calibri"/>
              </a:rPr>
              <a:t>MicroRTS</a:t>
            </a:r>
            <a:r>
              <a:rPr sz="1200" b="0" dirty="0">
                <a:solidFill>
                  <a:srgbClr val="CFD8E3"/>
                </a:solidFill>
                <a:latin typeface="Calibri"/>
              </a:rPr>
              <a:t>  ·  </a:t>
            </a:r>
            <a:r>
              <a:rPr sz="1200" b="0" dirty="0" err="1">
                <a:solidFill>
                  <a:srgbClr val="CFD8E3"/>
                </a:solidFill>
                <a:latin typeface="Calibri"/>
              </a:rPr>
              <a:t>drchangliu.github.io</a:t>
            </a:r>
            <a:r>
              <a:rPr sz="1200" b="0" dirty="0">
                <a:solidFill>
                  <a:srgbClr val="CFD8E3"/>
                </a:solidFill>
                <a:latin typeface="Calibri"/>
              </a:rPr>
              <a:t>/</a:t>
            </a:r>
            <a:r>
              <a:rPr sz="1200" b="0" dirty="0" err="1">
                <a:solidFill>
                  <a:srgbClr val="CFD8E3"/>
                </a:solidFill>
                <a:latin typeface="Calibri"/>
              </a:rPr>
              <a:t>MicroRTS</a:t>
            </a:r>
            <a:endParaRPr sz="1200" b="0" dirty="0">
              <a:solidFill>
                <a:srgbClr val="CFD8E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Background &amp;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MicroRTS — a decade-old benchmark for real-time strategy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7607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About MicroRTS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F293A"/>
                </a:solidFill>
              </a:rPr>
              <a:t>• Lightweight Java RTS designed for AI research — workers, light / heavy / ranged units, bases, barracks, resources.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F293A"/>
                </a:solidFill>
              </a:rPr>
              <a:t>• Created by Santiago Ontañón (Drexel) and presented at AIIDE 2013 (Combinatorial Multi-Armed Bandit work).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F293A"/>
                </a:solidFill>
              </a:rPr>
              <a:t>• Fully observable or partially observable; deterministic engine; fast simulation (thousands of games per minute) — ideal for tree search, RL, and benchmark studies.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F293A"/>
                </a:solidFill>
              </a:rPr>
              <a:t>• Maintained jointly with Levi Lelis and Rubens O. Moraes, who have driven the competition for years.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F293A"/>
                </a:solidFill>
              </a:rPr>
              <a:t>• Open source: github.com/santiontanon/microrts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005840"/>
            <a:ext cx="512064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Same engine, ten years on</a:t>
            </a:r>
          </a:p>
        </p:txBody>
      </p:sp>
      <p:pic>
        <p:nvPicPr>
          <p:cNvPr id="9" name="Picture 8" descr="32x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512064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0" y="5029200"/>
            <a:ext cx="51206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32×32 mid-play: LightRush vs HeavyRush at tick 800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97680"/>
            <a:ext cx="57607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Competition history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709160"/>
            <a:ext cx="822960" cy="237744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4727448"/>
            <a:ext cx="77724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2017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27448"/>
            <a:ext cx="10972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>
                <a:solidFill>
                  <a:srgbClr val="1F293A"/>
                </a:solidFill>
                <a:latin typeface="Calibri"/>
              </a:rPr>
              <a:t>IEEE-CIG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727448"/>
            <a:ext cx="3840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First MicroRTS AI Competition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65192"/>
            <a:ext cx="822960" cy="237744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983480"/>
            <a:ext cx="77724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2018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983480"/>
            <a:ext cx="10972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>
                <a:solidFill>
                  <a:srgbClr val="1F293A"/>
                </a:solidFill>
                <a:latin typeface="Calibri"/>
              </a:rPr>
              <a:t>IEEE-CIG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983480"/>
            <a:ext cx="3840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Tree-search + scripted hybrids dominate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21224"/>
            <a:ext cx="822960" cy="237744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5239512"/>
            <a:ext cx="77724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239512"/>
            <a:ext cx="10972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>
                <a:solidFill>
                  <a:srgbClr val="1F293A"/>
                </a:solidFill>
                <a:latin typeface="Calibri"/>
              </a:rPr>
              <a:t>IEEE-COG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239512"/>
            <a:ext cx="3840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Renamed conference; CoacAI emerges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77256"/>
            <a:ext cx="822960" cy="237744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" y="5495544"/>
            <a:ext cx="77724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2020-21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495544"/>
            <a:ext cx="10972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>
                <a:solidFill>
                  <a:srgbClr val="1F293A"/>
                </a:solidFill>
                <a:latin typeface="Calibri"/>
              </a:rPr>
              <a:t>IEEE-COG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5495544"/>
            <a:ext cx="3840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POLightRush, Mayari, Tiamat refine the ladder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733288"/>
            <a:ext cx="822960" cy="237744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5751576"/>
            <a:ext cx="77724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Calibri"/>
              </a:rPr>
              <a:t>2022-2</a:t>
            </a:r>
            <a:r>
              <a:rPr lang="en-US" sz="1000" b="1" dirty="0">
                <a:solidFill>
                  <a:srgbClr val="FFFFFF"/>
                </a:solidFill>
                <a:latin typeface="Calibri"/>
              </a:rPr>
              <a:t>5</a:t>
            </a:r>
            <a:endParaRPr sz="1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71600" y="5751576"/>
            <a:ext cx="10972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>
                <a:solidFill>
                  <a:srgbClr val="1F293A"/>
                </a:solidFill>
                <a:latin typeface="Calibri"/>
              </a:rPr>
              <a:t>IEEE-COG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5751576"/>
            <a:ext cx="3840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RL-track and PO-track expand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822960" cy="23774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" y="6007608"/>
            <a:ext cx="77724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6007608"/>
            <a:ext cx="10972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>
                <a:solidFill>
                  <a:srgbClr val="1F293A"/>
                </a:solidFill>
                <a:latin typeface="Calibri"/>
              </a:rPr>
              <a:t>IEEE-WCCI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6007608"/>
            <a:ext cx="3840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First LLM-only edition (this competition)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Why an LLM Edition?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Motivation for the 2026 WCCI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102A54"/>
                </a:solidFill>
                <a:latin typeface="Calibri"/>
              </a:rPr>
              <a:t>Use LLMs as the core of intelligence to solve RTS-game problems.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0">
                <a:solidFill>
                  <a:srgbClr val="1F293A"/>
                </a:solidFill>
                <a:latin typeface="Calibri"/>
              </a:rPr>
              <a:t>LLM-based RTS agents are not the top solution today — but the area has high growth potential, and is likely a research direction that compounds quickly over the next few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060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E36B18"/>
                </a:solidFill>
                <a:latin typeface="Calibri"/>
              </a:rPr>
              <a:t>A two-pronged research program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63240"/>
            <a:ext cx="5577840" cy="31089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3063240"/>
            <a:ext cx="5577840" cy="64008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521208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Prong 1 · How best to use an LLM to solve RTS?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E36B18"/>
                </a:solidFill>
                <a:latin typeface="Calibri"/>
              </a:rPr>
              <a:t>Architecture / scaffolding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6052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Where does the LLM sit in the loop — every tick, every N ticks, or only at strategy switches?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How do you compose an LLM with classical search (MCTS) or scripted policies?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What prompt format and game-state encoding makes the LLM reliable?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How do you handle latency, validity constraints, and JSON parsing failures?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063240"/>
            <a:ext cx="5577840" cy="31089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72200" y="3063240"/>
            <a:ext cx="5577840" cy="64008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3154680"/>
            <a:ext cx="521208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Prong 2 · Which LLM is best at RTS?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794760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E36B18"/>
                </a:solidFill>
                <a:latin typeface="Calibri"/>
              </a:rPr>
              <a:t>Benchmark / model-comparison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16052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A standardized RTS benchmark across open and closed models.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Measures planning, instruction-following, and structured-output reliability.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Holds scaffolding constant; isolates the model as the independent variable.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F293A"/>
                </a:solidFill>
              </a:rPr>
              <a:t>• Tracks year-over-year LLM progress on a real-time, partially observable task.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Competition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What we asked the teams to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Build an LLM-powered MicroRTS agent — no training, no fine-tuning, prompt-only.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6858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MicroRTS: open Java RTS benchmark (Ontañón et al.) — workers, light/heavy/ranged units, bases, barracks.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Agents read the game state, prompt an LLM, parse JSON moves, submit them per tick.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Success requires prompt engineering and strategy design, not weight updates.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Submitted via GitHub PR; central server runs each agent against a six-anchor ladder.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 Tests LLM reasoning, planning, and instruction-following under real-time constraints.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45920"/>
            <a:ext cx="420624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102A54"/>
                </a:solidFill>
                <a:latin typeface="Calibri"/>
              </a:rPr>
              <a:t>MicroRTS · 16×16 · mid-play</a:t>
            </a:r>
          </a:p>
        </p:txBody>
      </p:sp>
      <p:pic>
        <p:nvPicPr>
          <p:cNvPr id="9" name="Picture 8" descr="16x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965960"/>
            <a:ext cx="42062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0" y="6172200"/>
            <a:ext cx="42062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900" b="0">
                <a:solidFill>
                  <a:srgbClr val="6B7380"/>
                </a:solidFill>
                <a:latin typeface="Calibri"/>
              </a:rPr>
              <a:t>Blue = Player 0 · Pink = Player 1 · Orange circle = Light unit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760720"/>
            <a:ext cx="6858000" cy="45720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5806440"/>
            <a:ext cx="66751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 dirty="0">
                <a:solidFill>
                  <a:srgbClr val="FFFFFF"/>
                </a:solidFill>
                <a:latin typeface="Calibri"/>
              </a:rPr>
              <a:t>13 teams  ·  15 binaries  ·  4 map sizes (8×8 → 64×64)  ·  6 anchors  ·  1 A+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Tournament Format &amp;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Single-elimination, multi-map 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Map gauntlet (per agent)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365760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0" y="1417320"/>
            <a:ext cx="164592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472184"/>
            <a:ext cx="35661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472184"/>
            <a:ext cx="15544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Cycle cap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01368"/>
            <a:ext cx="36576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0" y="1801368"/>
            <a:ext cx="16459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856232"/>
            <a:ext cx="35661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8×8  basesWorkers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856232"/>
            <a:ext cx="15544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1,500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85416"/>
            <a:ext cx="36576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14800" y="2185416"/>
            <a:ext cx="16459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240280"/>
            <a:ext cx="35661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16×16 basesWorkers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240280"/>
            <a:ext cx="15544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3,000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569464"/>
            <a:ext cx="36576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14800" y="2569464"/>
            <a:ext cx="16459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2624328"/>
            <a:ext cx="35661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32×32 basesWorkers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2624328"/>
            <a:ext cx="15544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953512"/>
            <a:ext cx="36576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14800" y="2953512"/>
            <a:ext cx="16459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3008376"/>
            <a:ext cx="35661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64×64 GardenOfWar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008376"/>
            <a:ext cx="15544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8,000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00584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Anchor opponents (weight)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1417320"/>
            <a:ext cx="274320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961120" y="1417320"/>
            <a:ext cx="155448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515600" y="1417320"/>
            <a:ext cx="1188720" cy="384048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09360" y="1472184"/>
            <a:ext cx="2651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Opponent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1472184"/>
            <a:ext cx="14630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1472184"/>
            <a:ext cx="10058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Weight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1801368"/>
            <a:ext cx="27432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961120" y="1801368"/>
            <a:ext cx="155448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515600" y="1801368"/>
            <a:ext cx="11887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09360" y="1856232"/>
            <a:ext cx="2651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RandomBiasedAI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1856232"/>
            <a:ext cx="14630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easy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1856232"/>
            <a:ext cx="10058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2185416"/>
            <a:ext cx="2743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961120" y="2185416"/>
            <a:ext cx="15544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515600" y="2185416"/>
            <a:ext cx="11887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09360" y="2240280"/>
            <a:ext cx="2651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WorkerRush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2240280"/>
            <a:ext cx="14630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medium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7040" y="2240280"/>
            <a:ext cx="10058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2569464"/>
            <a:ext cx="27432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961120" y="2569464"/>
            <a:ext cx="155448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10515600" y="2569464"/>
            <a:ext cx="11887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09360" y="2624328"/>
            <a:ext cx="2651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LightRush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2624328"/>
            <a:ext cx="14630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medium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0" y="2624328"/>
            <a:ext cx="10058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15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2953512"/>
            <a:ext cx="2743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961120" y="2953512"/>
            <a:ext cx="15544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0515600" y="2953512"/>
            <a:ext cx="11887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09360" y="3008376"/>
            <a:ext cx="2651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52560" y="3008376"/>
            <a:ext cx="14630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medium-hard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07040" y="3008376"/>
            <a:ext cx="10058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20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8961120" y="3337560"/>
            <a:ext cx="155448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0515600" y="3337560"/>
            <a:ext cx="1188720" cy="384048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309360" y="3392424"/>
            <a:ext cx="2651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52560" y="3392424"/>
            <a:ext cx="14630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hard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07040" y="3392424"/>
            <a:ext cx="10058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20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3721608"/>
            <a:ext cx="27432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8961120" y="3721608"/>
            <a:ext cx="15544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10515600" y="3721608"/>
            <a:ext cx="11887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309360" y="3776472"/>
            <a:ext cx="2651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CoacAI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52560" y="3776472"/>
            <a:ext cx="14630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hard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07040" y="3776472"/>
            <a:ext cx="10058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300" b="0">
                <a:solidFill>
                  <a:srgbClr val="1F293A"/>
                </a:solidFill>
                <a:latin typeface="Calibri"/>
              </a:rPr>
              <a:t>20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4480560"/>
            <a:ext cx="1124712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Scoring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Weighted points per win (1.0) and draw (0.5), averaged across maps. A loss to an anchor stops that map (single-elimination) and the agent banks whatever it earned reaching that anchor.</a:t>
            </a:r>
          </a:p>
          <a:p>
            <a:pPr algn="l"/>
            <a:endParaRPr sz="1400" b="0">
              <a:solidFill>
                <a:srgbClr val="1F293A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Grades:  A+ ≥ 90    ·    A ≥ 80    ·    B ≥ 70    ·    C ≥ 60    ·    D ≥ 40    ·    F &lt; 40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Default server model: llama3.1:8b (Ollama). Teams could declare a preferred model.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MicroRTS — Four Map Sizes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Same engine, same rules, very different strategic horizon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3492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8x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51560"/>
            <a:ext cx="233172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971800" y="1143000"/>
            <a:ext cx="2743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8×8  basesWorkers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1554480"/>
            <a:ext cx="2743200" cy="1645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1,500 cycles · WorkerRush mirror @ tick 180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005840"/>
            <a:ext cx="53492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16x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2331720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9680" y="1143000"/>
            <a:ext cx="2743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16×16  basesWorkers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554480"/>
            <a:ext cx="2743200" cy="1645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3,000 cycles · LightRush mirror @ tick 600 (HP bars = engaged)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86200"/>
            <a:ext cx="53492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32x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931920"/>
            <a:ext cx="2331720" cy="228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71800" y="4023360"/>
            <a:ext cx="2743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32×32  basesWorkers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4434840"/>
            <a:ext cx="2743200" cy="1645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5,000 cycles · LightRush vs HeavyRush @ tick 800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3886200"/>
            <a:ext cx="534924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64x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931920"/>
            <a:ext cx="2331720" cy="228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69680" y="4023360"/>
            <a:ext cx="27432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64×64  GardenOfWar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434840"/>
            <a:ext cx="2743200" cy="1645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8,000 cycles · LightRush vs RangedRush @ tick 1500 — walls split the 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Screenshots captured mid-play with scripted rush bots on the organizers' server.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Final Leaderboard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Best score per team across all tournament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54864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1060704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005840"/>
            <a:ext cx="219456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1060704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005840"/>
            <a:ext cx="100584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82112" y="106070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005840"/>
            <a:ext cx="73152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87952" y="1060704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1005840"/>
            <a:ext cx="173736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19472" y="1060704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005840"/>
            <a:ext cx="5394960" cy="34747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56832" y="1060704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371600"/>
            <a:ext cx="54864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0" y="1371600"/>
            <a:ext cx="219456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108960" y="1371600"/>
            <a:ext cx="100584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14800" y="1371600"/>
            <a:ext cx="73152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846320" y="1371600"/>
            <a:ext cx="173736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83680" y="1371600"/>
            <a:ext cx="5394960" cy="329184"/>
          </a:xfrm>
          <a:prstGeom prst="rect">
            <a:avLst/>
          </a:prstGeom>
          <a:solidFill>
            <a:srgbClr val="FDF3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" y="1417320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D4A017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1417320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AlliBot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2112" y="141732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100.5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87952" y="141732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9472" y="1417320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qwen3:14b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1417320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Hybrid + LLM advisor/search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1700784"/>
            <a:ext cx="54864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14400" y="1700784"/>
            <a:ext cx="219456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108960" y="1700784"/>
            <a:ext cx="100584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114800" y="1700784"/>
            <a:ext cx="73152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846320" y="1700784"/>
            <a:ext cx="173736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583680" y="1700784"/>
            <a:ext cx="5394960" cy="329184"/>
          </a:xfrm>
          <a:prstGeom prst="rect">
            <a:avLst/>
          </a:prstGeom>
          <a:solidFill>
            <a:srgbClr val="EEEEEE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38912" y="1746504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9AA0A6"/>
                </a:solidFill>
                <a:latin typeface="Calibr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" y="1746504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Mayari-LLM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82112" y="174650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87.0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87952" y="1746504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1">
                <a:solidFill>
                  <a:srgbClr val="1E884E"/>
                </a:solidFill>
                <a:latin typeface="Calibri"/>
              </a:rPr>
              <a:t>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19472" y="1746504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56832" y="1746504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MayariBot + LLM consultation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2029967"/>
            <a:ext cx="54864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914400" y="2029967"/>
            <a:ext cx="219456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108960" y="2029967"/>
            <a:ext cx="100584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114800" y="2029967"/>
            <a:ext cx="73152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846320" y="2029967"/>
            <a:ext cx="173736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583680" y="2029967"/>
            <a:ext cx="5394960" cy="329184"/>
          </a:xfrm>
          <a:prstGeom prst="rect">
            <a:avLst/>
          </a:prstGeom>
          <a:solidFill>
            <a:srgbClr val="F6E4D0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38912" y="2075687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B06A2C"/>
                </a:solidFill>
                <a:latin typeface="Calibri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" y="2075687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HOPE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82112" y="2075687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79.0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87952" y="2075687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1">
                <a:solidFill>
                  <a:srgbClr val="336FB8"/>
                </a:solidFill>
                <a:latin typeface="Calibri"/>
              </a:rPr>
              <a:t>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19472" y="2075687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56832" y="2075687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Ollama + MCTS + prediction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2359152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14400" y="2359152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3108960" y="2359152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114800" y="2359152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846320" y="2359152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583680" y="2359152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38912" y="2404872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552" y="2404872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Chase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240487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69.0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7952" y="2404872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1">
                <a:solidFill>
                  <a:srgbClr val="E36B18"/>
                </a:solidFill>
                <a:latin typeface="Calibri"/>
              </a:rPr>
              <a:t>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19472" y="2404872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56832" y="2404872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Rush engine + advisor every ~500 ticks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2688336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914400" y="2688336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3108960" y="2688336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4114800" y="2688336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4846320" y="2688336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6583680" y="2688336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38912" y="2734056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7552" y="2734056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yebot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82112" y="2734056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69.0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87952" y="2734056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1">
                <a:solidFill>
                  <a:srgbClr val="E36B18"/>
                </a:solidFill>
                <a:latin typeface="Calibri"/>
              </a:rPr>
              <a:t>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9472" y="2734056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qwen3:8b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56832" y="2734056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Macro-LLM + hard-coded micro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017520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914400" y="3017520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3108960" y="3017520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4114800" y="3017520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4846320" y="3017520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6583680" y="3017520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38912" y="3063240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7552" y="3063240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Fortress Bot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82112" y="306324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57.5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87952" y="306324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1">
                <a:solidFill>
                  <a:srgbClr val="C44621"/>
                </a:solidFill>
                <a:latin typeface="Calibri"/>
              </a:rPr>
              <a:t>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19472" y="3063240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56832" y="3063240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 planner + scripted opening + rush mirrors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5760" y="3346704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914400" y="3346704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3108960" y="3346704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4114800" y="3346704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4846320" y="3346704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6583680" y="3346704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438912" y="3392424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7552" y="3392424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PenguinBot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82112" y="339242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54.0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87952" y="3392424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1">
                <a:solidFill>
                  <a:srgbClr val="C44621"/>
                </a:solidFill>
                <a:latin typeface="Calibri"/>
              </a:rPr>
              <a:t>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19472" y="3392424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656832" y="3392424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NaiveMCTS + LLM stance controller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5760" y="3675887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914400" y="3675887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3108960" y="3675887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4114800" y="3675887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4846320" y="3675887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583680" y="3675887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438912" y="3721607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7552" y="3721607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xiebot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82112" y="3721607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54.0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87952" y="3721607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1">
                <a:solidFill>
                  <a:srgbClr val="C44621"/>
                </a:solidFill>
                <a:latin typeface="Calibri"/>
              </a:rPr>
              <a:t>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721607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656832" y="3721607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 planner + selective tactical MCTS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5760" y="4005072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914400" y="4005072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3108960" y="4005072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4114800" y="4005072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4846320" y="4005072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6583680" y="4005072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438912" y="4050792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87552" y="4050792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jmurr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182112" y="405079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35.0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187952" y="4050792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19472" y="4050792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none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56832" y="4050792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Symmetric self/opponent state eval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4334256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914400" y="4334256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3108960" y="4334256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4114800" y="4334256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4846320" y="4334256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6583680" y="4334256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438912" y="4379976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87552" y="4379976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AI4PC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182112" y="4379976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33.8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187952" y="4379976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19472" y="4379976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656832" y="4379976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 picks rush every 100 ticks (counter-triangle)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65760" y="4663440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/>
          <p:cNvSpPr/>
          <p:nvPr/>
        </p:nvSpPr>
        <p:spPr>
          <a:xfrm>
            <a:off x="914400" y="4663440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3108960" y="4663440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4114800" y="4663440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4846320" y="4663440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2"/>
          <p:cNvSpPr/>
          <p:nvPr/>
        </p:nvSpPr>
        <p:spPr>
          <a:xfrm>
            <a:off x="6583680" y="4663440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438912" y="4709160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87552" y="4709160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Parker's Bot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82112" y="470916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33.0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87952" y="4709160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919472" y="4709160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56832" y="4709160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LLM-guided adaptive rush + fallback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65760" y="4992624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ectangle 150"/>
          <p:cNvSpPr/>
          <p:nvPr/>
        </p:nvSpPr>
        <p:spPr>
          <a:xfrm>
            <a:off x="914400" y="4992624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3108960" y="4992624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4114800" y="4992624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4846320" y="4992624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ectangle 154"/>
          <p:cNvSpPr/>
          <p:nvPr/>
        </p:nvSpPr>
        <p:spPr>
          <a:xfrm>
            <a:off x="6583680" y="4992624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438912" y="5038344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87552" y="5038344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jmurrllm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82112" y="5038344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24.0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38344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919472" y="5038344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656832" y="5038344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Light-rush opener + LLM classifier + counter table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65760" y="5321808"/>
            <a:ext cx="5486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914400" y="5321808"/>
            <a:ext cx="21945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3108960" y="5321808"/>
            <a:ext cx="100584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4114800" y="5321808"/>
            <a:ext cx="73152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4846320" y="5321808"/>
            <a:ext cx="17373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166"/>
          <p:cNvSpPr/>
          <p:nvPr/>
        </p:nvSpPr>
        <p:spPr>
          <a:xfrm>
            <a:off x="6583680" y="5321808"/>
            <a:ext cx="5394960" cy="329184"/>
          </a:xfrm>
          <a:prstGeom prst="rect">
            <a:avLst/>
          </a:prstGeom>
          <a:solidFill>
            <a:srgbClr val="F2F4F8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438912" y="5367528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87552" y="5367528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EAGLE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182112" y="5367528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3.8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187952" y="5367528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919472" y="5367528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llama3.1:8b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656832" y="5367528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Structured prompt policy, role-based workers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65760" y="5650992"/>
            <a:ext cx="5486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Rectangle 174"/>
          <p:cNvSpPr/>
          <p:nvPr/>
        </p:nvSpPr>
        <p:spPr>
          <a:xfrm>
            <a:off x="914400" y="5650992"/>
            <a:ext cx="21945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/>
          <p:cNvSpPr/>
          <p:nvPr/>
        </p:nvSpPr>
        <p:spPr>
          <a:xfrm>
            <a:off x="3108960" y="5650992"/>
            <a:ext cx="100584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4114800" y="5650992"/>
            <a:ext cx="7315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4846320" y="5650992"/>
            <a:ext cx="17373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6583680" y="5650992"/>
            <a:ext cx="5394960" cy="329184"/>
          </a:xfrm>
          <a:prstGeom prst="rect">
            <a:avLst/>
          </a:prstGeom>
          <a:solidFill>
            <a:srgbClr val="FFFFFF"/>
          </a:solidFill>
          <a:ln>
            <a:solidFill>
              <a:srgbClr val="E5E7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438912" y="5696712"/>
            <a:ext cx="457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13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7552" y="5696712"/>
            <a:ext cx="21031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Adil Bot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82112" y="569671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100" b="1">
                <a:solidFill>
                  <a:srgbClr val="1F293A"/>
                </a:solidFill>
                <a:latin typeface="Calibri"/>
              </a:rPr>
              <a:t>3.8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187952" y="5696712"/>
            <a:ext cx="64008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1">
                <a:solidFill>
                  <a:srgbClr val="8E1616"/>
                </a:solidFill>
                <a:latin typeface="Calibri"/>
              </a:rPr>
              <a:t>F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19472" y="5696712"/>
            <a:ext cx="164591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none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656832" y="5696712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1F293A"/>
                </a:solidFill>
                <a:latin typeface="Calibri"/>
              </a:rPr>
              <a:t>Rule-based: harvest/build/train + early rush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🏆 Champion: AlliBot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Score 100.5 · Grade A+ · Model qwen3:14b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The only A+ submission, and the only agent to complete the full 4-map gauntlet.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486400" cy="41148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3035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303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Mayari-derived hybrid macro/micro execution layer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Rush-defense rule set: counter-build vs. visible enemy composition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Small-map (4×4 / 8×8) WorkerRush delegation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qwen3:14b advisor: high-level strategic guidance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Search component biased by LLM priors over actions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93A"/>
                </a:solidFill>
              </a:rPr>
              <a:t>• Deterministic fallback if LLM stalls (latency budget)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486400" cy="41148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53035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102A54"/>
                </a:solidFill>
                <a:latin typeface="Calibri"/>
              </a:rPr>
              <a:t>Per-map performance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240280"/>
            <a:ext cx="109728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2240280"/>
            <a:ext cx="109728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595360" y="2240280"/>
            <a:ext cx="109728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692640" y="2240280"/>
            <a:ext cx="2194560" cy="502920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235915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235915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5915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2359152"/>
            <a:ext cx="201167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Eliminated by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7432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498079" y="27432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595360" y="27432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692640" y="274320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0" y="286207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8×8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19" y="286207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69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86207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862072"/>
            <a:ext cx="201167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498079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595360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692640" y="324612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92240" y="336499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16×16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19" y="336499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36499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364992"/>
            <a:ext cx="201167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74904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498079" y="374904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595360" y="374904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692640" y="374904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92240" y="386791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32×32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19" y="386791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96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386791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84080" y="3867912"/>
            <a:ext cx="201167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CoacAI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7498079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8595360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9692640" y="425196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92240" y="437083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64×64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19" y="437083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4370832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1E884E"/>
                </a:solidFill>
                <a:latin typeface="Calibri"/>
              </a:rPr>
              <a:t>A+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4370832"/>
            <a:ext cx="2011679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94360" y="594360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Headline: AlliBot is the only entry to beat CoacAI on any map (32×32, 2W–1L) and to score A+ on three of four maps.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Five Design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How teams composed LLMs with classical game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64008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1.  MCTS + LLM 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078992"/>
            <a:ext cx="438912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Search-led, LLM-advised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89888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PenguinBot · HOPE · xiebot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459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Tree search drives micro; LLM is consulted every few hundred ticks to bias exploration toward ATTACK/DEFEND or to set macro priors.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0312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10312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176272"/>
            <a:ext cx="64008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2.  LLM strategy controller over scripted rushes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176272"/>
            <a:ext cx="438912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Script-led, LLM-routed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487168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AI4PC · Parker's Bot · Chase · Fortress Bot · jmurrllm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7432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Each tick is executed by a canonical rush bot (Worker/Light/Heavy/Ranged); LLM picks which rush — often with a counter-triangle fallback.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0040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20040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273552"/>
            <a:ext cx="64008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3.  Hybrid macro/micro with LLM macro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273552"/>
            <a:ext cx="438912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LLM-led, scripted micro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584448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AlliBot · Mayari-LLM · yebot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84048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LLM proposes goals; deterministic code handles harvesting, building, and combat micro. Top performers cluster here.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9768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" y="429768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4370832"/>
            <a:ext cx="64008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4.  Pure-prompt LLM policy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370832"/>
            <a:ext cx="438912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LLM-only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681728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EAGLE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9377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Every action generated from a structured prompt under rule constraints. Heavy latency cost — hard to clear even the weakest anchor.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5394960"/>
            <a:ext cx="109728" cy="100584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5468112"/>
            <a:ext cx="64008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1">
                <a:solidFill>
                  <a:srgbClr val="102A54"/>
                </a:solidFill>
                <a:latin typeface="Calibri"/>
              </a:rPr>
              <a:t>5.  Heuristic / no-LLM baselines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468112"/>
            <a:ext cx="438912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200" b="1">
                <a:solidFill>
                  <a:srgbClr val="E36B18"/>
                </a:solidFill>
                <a:latin typeface="Calibri"/>
              </a:rPr>
              <a:t>No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779008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1">
                <a:solidFill>
                  <a:srgbClr val="1F293A"/>
                </a:solidFill>
                <a:latin typeface="Calibri"/>
              </a:rPr>
              <a:t>Teams: jmurr · Adil Bot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0350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Submitted to measure how much the LLM layer is actually worth.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Worked · What Didn't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Lessons from 15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577840" cy="5120640"/>
          </a:xfrm>
          <a:prstGeom prst="rect">
            <a:avLst/>
          </a:prstGeom>
          <a:solidFill>
            <a:srgbClr val="E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577840" cy="457200"/>
          </a:xfrm>
          <a:prstGeom prst="rect">
            <a:avLst/>
          </a:prstGeom>
          <a:solidFill>
            <a:srgbClr val="1E8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09728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✓  What worked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Hybrid architectures dominated.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92808"/>
            <a:ext cx="53035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Every A/B-grade entry kept the LLM out of the per-tick loop and used it as a strategic advisor (100–500 ticks).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Stronger models translated to wins…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53035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…when the rest of the stack was sound. AlliBot (qwen3:14b) is the only A+. yebot (qwen3:8b) edges out llama3.1:8b peers.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Counter-triangle reasoning recurs.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87368"/>
            <a:ext cx="53035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Light beats Ranged · Heavy beats Light · Ranged beats Heavy — appears in 5 entries, reliable at 8×8.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Deterministic fallback paths.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84648"/>
            <a:ext cx="53035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Every top-half entry has a heuristic plan B if the LLM stalls or returns invalid JSON.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005840"/>
            <a:ext cx="5577840" cy="5120640"/>
          </a:xfrm>
          <a:prstGeom prst="rect">
            <a:avLst/>
          </a:prstGeom>
          <a:solidFill>
            <a:srgbClr val="FA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26480" y="1005840"/>
            <a:ext cx="5577840" cy="457200"/>
          </a:xfrm>
          <a:prstGeom prst="rect">
            <a:avLst/>
          </a:prstGeom>
          <a:solidFill>
            <a:srgbClr val="8E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1097280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✗  What didn't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600200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Per-tick LLM prompting.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92808"/>
            <a:ext cx="53035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EAGLE (pure-prompt policy) struggled with action validity and latency — could not reliably beat RandomBiasedAI.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697480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Small-map tuning rarely transferred.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990088"/>
            <a:ext cx="53035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Mayari-LLM scored A+ on 16×16 but D on 8×8. Map-specific heuristics broke under different cycle budgets.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794760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Stickiness without re-evaluation.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087368"/>
            <a:ext cx="53035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Per-100-tick strategy pickers (AI4PC) lost on larger maps where the opponent's composition shifted faster than polling.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892040"/>
            <a:ext cx="530352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1F293A"/>
                </a:solidFill>
                <a:latin typeface="Calibri"/>
              </a:rPr>
              <a:t>Tiamat was the bottleneck.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184648"/>
            <a:ext cx="530352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 eliminated 3 top-half entries. Only AlliBot beat it on any map.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Per-Map Performance — Top Finishers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CFD8E3"/>
                </a:solidFill>
                <a:latin typeface="Calibri"/>
              </a:rPr>
              <a:t>Score per map · grade · anchor that eliminated the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237744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152144"/>
            <a:ext cx="224028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17520" y="1152144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8×8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79" y="1152144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16×16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06640" y="1152144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32×32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1097280"/>
            <a:ext cx="2103120" cy="621792"/>
          </a:xfrm>
          <a:prstGeom prst="rect">
            <a:avLst/>
          </a:prstGeom>
          <a:solidFill>
            <a:srgbClr val="102A54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0" y="1152144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64×64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719072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1773936"/>
            <a:ext cx="224028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AlliBot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017520" y="1773936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69 C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12079" y="1773936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117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06640" y="1773936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96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CoacAI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1719072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0" y="1773936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120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340864"/>
            <a:ext cx="23774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2395728"/>
            <a:ext cx="224028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Mayari-LLM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017520" y="2395728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54 D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WorkerRush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12079" y="2395728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120 A+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06640" y="2395728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2340864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01200" y="2395728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962656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3017520"/>
            <a:ext cx="224028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HOPE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608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017520" y="3017520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79 B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advanced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12079" y="3017520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406640" y="3017520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760" y="2962656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01200" y="3017520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584448"/>
            <a:ext cx="23774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8640" y="3639312"/>
            <a:ext cx="224028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Chase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017520" y="3639312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69 C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advanced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2064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212079" y="3639312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406640" y="3639312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09760" y="3584448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601200" y="3639312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206240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48640" y="4261104"/>
            <a:ext cx="224028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yebot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017520" y="4261104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69 C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advanced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2064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212079" y="4261104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406640" y="4261104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9760" y="4206240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601200" y="4261104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" y="4828032"/>
            <a:ext cx="23774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48640" y="4882896"/>
            <a:ext cx="224028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Fortress Bot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2608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017520" y="4882896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79 B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2064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212079" y="4882896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36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LightRush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1520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406640" y="4882896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509760" y="4828032"/>
            <a:ext cx="21031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601200" y="4882896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— not run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57200" y="5449824"/>
            <a:ext cx="237744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48640" y="5504688"/>
            <a:ext cx="224028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1F293A"/>
                </a:solidFill>
                <a:latin typeface="Calibri"/>
              </a:rPr>
              <a:t>AI4PC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2608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3017520" y="5504688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79 B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Tiamat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12064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212079" y="5504688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22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31520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7406640" y="5504688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22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509760" y="5449824"/>
            <a:ext cx="2103120" cy="621792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9601200" y="5504688"/>
            <a:ext cx="1965960" cy="53035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12 F</a:t>
            </a:r>
          </a:p>
          <a:p>
            <a:pPr algn="l"/>
            <a:r>
              <a:rPr sz="1100" b="0">
                <a:solidFill>
                  <a:srgbClr val="1F293A"/>
                </a:solidFill>
                <a:latin typeface="Calibri"/>
              </a:rPr>
              <a:t>HeavyRush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6B7380"/>
                </a:solidFill>
                <a:latin typeface="Calibri"/>
              </a:rPr>
              <a:t>Only AlliBot completed all four maps; only AlliBot beat CoacAI on any map.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234439"/>
            <a:ext cx="2286000" cy="10058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508760"/>
            <a:ext cx="27432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teams submitted via GitHub PR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9728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26480" y="109728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234439"/>
            <a:ext cx="2286000" cy="10058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508760"/>
            <a:ext cx="27432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agent binaries evaluated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651760"/>
            <a:ext cx="2286000" cy="10058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26080"/>
            <a:ext cx="27432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A+ submission (AlliBot, 100.5)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51460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26480" y="251460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2651760"/>
            <a:ext cx="2286000" cy="10058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38%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926080"/>
            <a:ext cx="27432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of teams scored C or higher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192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93192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069080"/>
            <a:ext cx="2286000" cy="10058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different LLMs used: llama3.1:8b · qwen3:14b · qwen3:8b · gpt-5 (dev)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393192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26480" y="393192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4069080"/>
            <a:ext cx="2286000" cy="10058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4343400"/>
            <a:ext cx="27432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no-LLM/heuristic baselines (control group)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349240"/>
            <a:ext cx="5577840" cy="1280160"/>
          </a:xfrm>
          <a:prstGeom prst="rect">
            <a:avLst/>
          </a:prstGeom>
          <a:solidFill>
            <a:srgbClr val="F2F4F8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57200" y="5349240"/>
            <a:ext cx="137160" cy="1280160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5486400"/>
            <a:ext cx="2286000" cy="10058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4400" b="1">
                <a:solidFill>
                  <a:srgbClr val="102A54"/>
                </a:solidFill>
                <a:latin typeface="Calibr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760720"/>
            <a:ext cx="27432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agent beat CoacAI on a map (AlliBot, 32×32)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Future Work &amp; Acknowledgments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Toward the 2027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165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dirty="0">
                <a:solidFill>
                  <a:srgbClr val="1F293A"/>
                </a:solidFill>
              </a:rPr>
              <a:t>•  Multiple games per matchup (variance reduction) and per-anchor seeds.</a:t>
            </a:r>
          </a:p>
          <a:p>
            <a:pPr>
              <a:spcAft>
                <a:spcPts val="800"/>
              </a:spcAft>
            </a:pPr>
            <a:r>
              <a:rPr sz="1500" dirty="0">
                <a:solidFill>
                  <a:srgbClr val="1F293A"/>
                </a:solidFill>
              </a:rPr>
              <a:t>•  Standardize LLM latency budget reporting to compare hybrid designs fairly.</a:t>
            </a:r>
          </a:p>
          <a:p>
            <a:pPr>
              <a:spcAft>
                <a:spcPts val="800"/>
              </a:spcAft>
            </a:pPr>
            <a:r>
              <a:rPr sz="1500" dirty="0">
                <a:solidFill>
                  <a:srgbClr val="1F293A"/>
                </a:solidFill>
              </a:rPr>
              <a:t>•  Allow team-selected model on the server, paired with a fixed compute cap.</a:t>
            </a:r>
          </a:p>
          <a:p>
            <a:pPr>
              <a:spcAft>
                <a:spcPts val="800"/>
              </a:spcAft>
            </a:pPr>
            <a:r>
              <a:rPr sz="1500" dirty="0">
                <a:solidFill>
                  <a:srgbClr val="1F293A"/>
                </a:solidFill>
              </a:rPr>
              <a:t>•  Add </a:t>
            </a:r>
            <a:r>
              <a:rPr lang="en-US" sz="1500" dirty="0">
                <a:solidFill>
                  <a:srgbClr val="1F293A"/>
                </a:solidFill>
              </a:rPr>
              <a:t>additional</a:t>
            </a:r>
            <a:r>
              <a:rPr sz="1500" dirty="0">
                <a:solidFill>
                  <a:srgbClr val="1F293A"/>
                </a:solidFill>
              </a:rPr>
              <a:t> anchors (</a:t>
            </a:r>
            <a:r>
              <a:rPr lang="en-US" sz="1500" dirty="0">
                <a:solidFill>
                  <a:srgbClr val="1F293A"/>
                </a:solidFill>
              </a:rPr>
              <a:t>e.g. </a:t>
            </a:r>
            <a:r>
              <a:rPr sz="1500" dirty="0" err="1">
                <a:solidFill>
                  <a:srgbClr val="1F293A"/>
                </a:solidFill>
              </a:rPr>
              <a:t>POLightRush</a:t>
            </a:r>
            <a:r>
              <a:rPr sz="1500" dirty="0">
                <a:solidFill>
                  <a:srgbClr val="1F293A"/>
                </a:solidFill>
              </a:rPr>
              <a:t>, </a:t>
            </a:r>
            <a:r>
              <a:rPr sz="1500" dirty="0" err="1">
                <a:solidFill>
                  <a:srgbClr val="1F293A"/>
                </a:solidFill>
              </a:rPr>
              <a:t>NaiveMCTS</a:t>
            </a:r>
            <a:r>
              <a:rPr sz="1500" dirty="0">
                <a:solidFill>
                  <a:srgbClr val="1F293A"/>
                </a:solidFill>
              </a:rPr>
              <a:t>+) to </a:t>
            </a:r>
            <a:r>
              <a:rPr lang="en-US" sz="1500" dirty="0">
                <a:solidFill>
                  <a:srgbClr val="1F293A"/>
                </a:solidFill>
              </a:rPr>
              <a:t>further</a:t>
            </a:r>
            <a:r>
              <a:rPr sz="1500" dirty="0">
                <a:solidFill>
                  <a:srgbClr val="1F293A"/>
                </a:solidFill>
              </a:rPr>
              <a:t> separate entries.</a:t>
            </a:r>
          </a:p>
          <a:p>
            <a:pPr>
              <a:spcAft>
                <a:spcPts val="800"/>
              </a:spcAft>
            </a:pPr>
            <a:r>
              <a:rPr sz="1500" dirty="0">
                <a:solidFill>
                  <a:srgbClr val="1F293A"/>
                </a:solidFill>
              </a:rPr>
              <a:t>•  Per-game replay viewer hosted on the leaderboard site for transparency.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14800"/>
            <a:ext cx="11247120" cy="21031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02A54"/>
                </a:solidFill>
                <a:latin typeface="Calibri"/>
              </a:rPr>
              <a:t>Acknowledgments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10972800" cy="1554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All 13 teams for their submissions and reproducible code.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Santi Ontañón, Levi Lelis, and Rubens O. Moraes for the open MicroRTS engine.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IEEE WCCI 2026 competition committee for hosting the track.</a:t>
            </a:r>
          </a:p>
          <a:p>
            <a:pPr algn="l"/>
            <a:r>
              <a:rPr sz="1400" b="0">
                <a:solidFill>
                  <a:srgbClr val="1F293A"/>
                </a:solidFill>
                <a:latin typeface="Calibri"/>
              </a:rPr>
              <a:t>• Submissions, logs, and per-game results: github.com/drchangliu/MicroRTS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6B7380"/>
                </a:solidFill>
                <a:latin typeface="Calibri"/>
              </a:rPr>
              <a:t>2026 IEEE WCCI · MicroRTS LLM Game AI Competition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>
                <a:solidFill>
                  <a:srgbClr val="6B73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73152"/>
          </a:xfrm>
          <a:prstGeom prst="rect">
            <a:avLst/>
          </a:prstGeom>
          <a:solidFill>
            <a:srgbClr val="E36B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0972800" cy="1371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2400" b="0">
                <a:solidFill>
                  <a:srgbClr val="CFD8E3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600" b="0">
                <a:solidFill>
                  <a:srgbClr val="E36B18"/>
                </a:solidFill>
                <a:latin typeface="Calibri"/>
              </a:rPr>
              <a:t>drchangliu.github.io/MicroRTS  ·  github.com/drchangliu/MicroRTS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77840"/>
            <a:ext cx="10972800" cy="25237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lang="en-US" sz="1400" dirty="0">
                <a:solidFill>
                  <a:srgbClr val="FFFFFF"/>
                </a:solidFill>
                <a:latin typeface="Calibri"/>
              </a:rPr>
              <a:t>The s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ubmission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 site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remain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s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open — try the 2027 leaderboard at the same address.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2026</Words>
  <Application>Microsoft Macintosh PowerPoint</Application>
  <PresentationFormat>Widescreen</PresentationFormat>
  <Paragraphs>392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Liu, Chang</cp:lastModifiedBy>
  <cp:revision>3</cp:revision>
  <dcterms:created xsi:type="dcterms:W3CDTF">2013-01-27T09:14:16Z</dcterms:created>
  <dcterms:modified xsi:type="dcterms:W3CDTF">2026-06-21T08:11:32Z</dcterms:modified>
  <cp:category/>
</cp:coreProperties>
</file>