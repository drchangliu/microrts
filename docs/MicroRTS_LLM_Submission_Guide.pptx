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6EDF3"/>
                </a:solidFill>
                <a:latin typeface="Calibri"/>
              </a:defRPr>
            </a:pPr>
            <a:r>
              <a:t>MicroRTS LLM Competition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4688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949E"/>
                </a:solidFill>
                <a:latin typeface="Calibri"/>
              </a:defRPr>
            </a:pPr>
            <a:r>
              <a:t>IEEE WCCI 2026  |  How to Submit Your Agent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291840"/>
            <a:ext cx="393192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8A6FF"/>
                </a:solidFill>
                <a:latin typeface="Calibri"/>
              </a:defRPr>
            </a:pPr>
            <a:r>
              <a:t>github.com/drchangliu/MicroRTS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4572000"/>
            <a:ext cx="2560320" cy="14630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4754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8A6FF"/>
                </a:solidFill>
                <a:latin typeface="Calibri"/>
              </a:defRPr>
            </a:pPr>
            <a:r>
              <a:t>Submit via PR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51663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Calibri"/>
              </a:defRPr>
            </a:pPr>
            <a:r>
              <a:t>Fork, code, open</a:t>
            </a:r>
            <a:br/>
            <a:r>
              <a:t>a Pull Request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46320" y="4572000"/>
            <a:ext cx="2560320" cy="14630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4754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8A6FF"/>
                </a:solidFill>
                <a:latin typeface="Calibri"/>
              </a:defRPr>
            </a:pPr>
            <a:r>
              <a:t>Auto-Validated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51663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Calibri"/>
              </a:defRPr>
            </a:pPr>
            <a:r>
              <a:t>CI checks your agent</a:t>
            </a:r>
            <a:br/>
            <a:r>
              <a:t>before tournament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4572000"/>
            <a:ext cx="2560320" cy="14630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47548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8A6FF"/>
                </a:solidFill>
                <a:latin typeface="Calibri"/>
              </a:defRPr>
            </a:pPr>
            <a:r>
              <a:t>Live Leaderboard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5166360"/>
            <a:ext cx="2194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  <a:latin typeface="Calibri"/>
              </a:defRPr>
            </a:pPr>
            <a:r>
              <a:t>Results on GitHub</a:t>
            </a:r>
            <a:br/>
            <a:r>
              <a:t>Pages after each 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EDF3"/>
                </a:solidFill>
                <a:latin typeface="Calibri"/>
              </a:defRPr>
            </a:pPr>
            <a:r>
              <a:t>Submission Overview: 6 Steps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417320"/>
            <a:ext cx="457200" cy="4572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EDF3"/>
                </a:solidFill>
                <a:latin typeface="Calibri"/>
              </a:defRPr>
            </a:pPr>
            <a:r>
              <a:t>Fork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830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Fork the MicroRTS repo</a:t>
            </a:r>
            <a:br/>
            <a:r>
              <a:t>to your GitHub account</a:t>
            </a:r>
          </a:p>
        </p:txBody>
      </p:sp>
      <p:sp>
        <p:nvSpPr>
          <p:cNvPr id="6" name="Oval 5"/>
          <p:cNvSpPr/>
          <p:nvPr/>
        </p:nvSpPr>
        <p:spPr>
          <a:xfrm>
            <a:off x="4480559" y="1417320"/>
            <a:ext cx="457200" cy="4572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39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EDF3"/>
                </a:solidFill>
                <a:latin typeface="Calibri"/>
              </a:defRPr>
            </a:pPr>
            <a:r>
              <a:t>Create Folder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39" y="17830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Copy the template to</a:t>
            </a:r>
            <a:br/>
            <a:r>
              <a:t>submissions/your-team/</a:t>
            </a:r>
          </a:p>
        </p:txBody>
      </p:sp>
      <p:sp>
        <p:nvSpPr>
          <p:cNvPr id="9" name="Oval 8"/>
          <p:cNvSpPr/>
          <p:nvPr/>
        </p:nvSpPr>
        <p:spPr>
          <a:xfrm>
            <a:off x="8229598" y="1417320"/>
            <a:ext cx="457200" cy="4572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78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EDF3"/>
                </a:solidFill>
                <a:latin typeface="Calibri"/>
              </a:defRPr>
            </a:pPr>
            <a:r>
              <a:t>Edit Metadata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78" y="17830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Fill in metadata.json</a:t>
            </a:r>
            <a:br/>
            <a:r>
              <a:t>with team &amp; model info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886200"/>
            <a:ext cx="457200" cy="4572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EDF3"/>
                </a:solidFill>
                <a:latin typeface="Calibri"/>
              </a:defRPr>
            </a:pPr>
            <a:r>
              <a:t>Code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2519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Implement your AI in Java</a:t>
            </a:r>
            <a:br/>
            <a:r>
              <a:t>(AbstractionLayerAI or NaiveMCTS)</a:t>
            </a:r>
          </a:p>
        </p:txBody>
      </p:sp>
      <p:sp>
        <p:nvSpPr>
          <p:cNvPr id="15" name="Oval 14"/>
          <p:cNvSpPr/>
          <p:nvPr/>
        </p:nvSpPr>
        <p:spPr>
          <a:xfrm>
            <a:off x="4480559" y="3886200"/>
            <a:ext cx="457200" cy="4572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39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EDF3"/>
                </a:solidFill>
                <a:latin typeface="Calibri"/>
              </a:defRPr>
            </a:pPr>
            <a:r>
              <a:t>Test Locally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39" y="42519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Build, run games, and</a:t>
            </a:r>
            <a:br/>
            <a:r>
              <a:t>validate your submission</a:t>
            </a:r>
          </a:p>
        </p:txBody>
      </p:sp>
      <p:sp>
        <p:nvSpPr>
          <p:cNvPr id="18" name="Oval 17"/>
          <p:cNvSpPr/>
          <p:nvPr/>
        </p:nvSpPr>
        <p:spPr>
          <a:xfrm>
            <a:off x="8229598" y="3886200"/>
            <a:ext cx="457200" cy="4572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78" y="3840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EDF3"/>
                </a:solidFill>
                <a:latin typeface="Calibri"/>
              </a:defRPr>
            </a:pPr>
            <a:r>
              <a:t>Open PR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78" y="425196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Push &amp; open a Pull Request</a:t>
            </a:r>
            <a:br/>
            <a:r>
              <a:t>against master branch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EDF3"/>
                </a:solidFill>
                <a:latin typeface="Calibri"/>
              </a:defRPr>
            </a:pPr>
            <a:r>
              <a:t>Step 1-2: Fork &amp; Create Your Team Folder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EDF3"/>
                </a:solidFill>
                <a:latin typeface="Calibri"/>
              </a:defRPr>
            </a:pPr>
            <a:r>
              <a:t>Fork the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83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Go to github.com/drchangliu/MicroRTS and click Fork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468880"/>
            <a:ext cx="457200" cy="457200"/>
          </a:xfrm>
          <a:prstGeom prst="ellipse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EDF3"/>
                </a:solidFill>
                <a:latin typeface="Calibri"/>
              </a:defRPr>
            </a:pPr>
            <a:r>
              <a:t>Copy the template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2926080"/>
            <a:ext cx="6400800" cy="457200"/>
          </a:xfrm>
          <a:prstGeom prst="round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  <a:r>
              <a:t>cp -r submissions/_template submissions/your-team-name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Folder structure after setup: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029200" cy="2286000"/>
          </a:xfrm>
          <a:prstGeom prst="round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6EDF3"/>
                </a:solidFill>
                <a:latin typeface="Consolas"/>
              </a:defRPr>
            </a:pPr>
            <a:r>
              <a:t>submissions/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6EDF3"/>
                </a:solidFill>
                <a:latin typeface="Consolas"/>
              </a:defRPr>
            </a:pPr>
            <a:r>
              <a:t>  _template/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6EDF3"/>
                </a:solidFill>
                <a:latin typeface="Consolas"/>
              </a:defRPr>
            </a:pPr>
            <a:r>
              <a:t>    metadata.json        # Team info schema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6EDF3"/>
                </a:solidFill>
                <a:latin typeface="Consolas"/>
              </a:defRPr>
            </a:pPr>
            <a:r>
              <a:t>    Agent.java           # AbstractionLayerAI template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6EDF3"/>
                </a:solidFill>
                <a:latin typeface="Consolas"/>
              </a:defRPr>
            </a:pPr>
            <a:r>
              <a:t>    MCTSAgent.java       # NaiveMCTS template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6EDF3"/>
                </a:solidFill>
                <a:latin typeface="Consolas"/>
              </a:defRPr>
            </a:pPr>
            <a:r>
              <a:t>  your-team-name/        # &lt;-- Your submission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6EDF3"/>
                </a:solidFill>
                <a:latin typeface="Consolas"/>
              </a:defRPr>
            </a:pPr>
            <a:r>
              <a:t>    metadata.json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300">
                <a:solidFill>
                  <a:srgbClr val="E6EDF3"/>
                </a:solidFill>
                <a:latin typeface="Consolas"/>
              </a:defRPr>
            </a:pPr>
            <a:r>
              <a:t>    YourAgent.java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114800"/>
            <a:ext cx="502920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8A6FF"/>
                </a:solidFill>
                <a:latin typeface="Calibri"/>
              </a:defRPr>
            </a:pPr>
            <a:r>
              <a:t>Team Name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66344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8B949E"/>
                </a:solidFill>
                <a:latin typeface="Calibri"/>
              </a:defRPr>
            </a:pPr>
            <a:r>
              <a:t>- Lowercase letters, numbers, hyphens only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8B949E"/>
                </a:solidFill>
                <a:latin typeface="Calibri"/>
              </a:defRPr>
            </a:pPr>
            <a:r>
              <a:t>- Examples: my-team, deepblue-ai, rts-lab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8B949E"/>
                </a:solidFill>
                <a:latin typeface="Calibri"/>
              </a:defRPr>
            </a:pPr>
            <a:r>
              <a:t>- Must match folder name exactly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300">
                <a:solidFill>
                  <a:srgbClr val="8B949E"/>
                </a:solidFill>
                <a:latin typeface="Calibri"/>
              </a:defRPr>
            </a:pPr>
            <a:r>
              <a:t>- Hyphens become underscores in Java package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EDF3"/>
                </a:solidFill>
                <a:latin typeface="Calibri"/>
              </a:defRPr>
            </a:pPr>
            <a:r>
              <a:t>Step 3: Edit metadata.json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2926080"/>
          </a:xfrm>
          <a:prstGeom prst="round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  <a:r>
              <a:t>  "team_name": "my-awesome-team",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  <a:r>
              <a:t>  "display_name": "My Awesome Team",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  <a:r>
              <a:t>  "agent_class": "SmartRushAgent",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  <a:r>
              <a:t>  "agent_file": "SmartRushAgent.java",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  <a:r>
              <a:t>  "model_provider": "ollama",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  <a:r>
              <a:t>  "model_name": "llama3.1:8b",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  <a:r>
              <a:t>  "description": "LLM-guided worker rush"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Calibri"/>
              </a:defRPr>
            </a:pPr>
            <a:r>
              <a:t>Field Reference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6916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onsolas"/>
              </a:defRPr>
            </a:pPr>
            <a:r>
              <a:t>team_name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Must match folder name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0391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onsolas"/>
              </a:defRPr>
            </a:pPr>
            <a:r>
              <a:t>display_name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0391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Shown on leaderboard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865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onsolas"/>
              </a:defRPr>
            </a:pPr>
            <a:r>
              <a:t>agent_class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238658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Java class name (= filename)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3405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onsolas"/>
              </a:defRPr>
            </a:pPr>
            <a:r>
              <a:t>agent_file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273405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Java source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08152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onsolas"/>
              </a:defRPr>
            </a:pPr>
            <a:r>
              <a:t>model_provider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08152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ollama | gemini | openai | deepseek | none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429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onsolas"/>
              </a:defRPr>
            </a:pPr>
            <a:r>
              <a:t>model_name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e.g. llama3.1:8b, gemini-2.5-flash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7764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onsolas"/>
              </a:defRPr>
            </a:pPr>
            <a:r>
              <a:t>description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77647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Brief strategy description (optional)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EDF3"/>
                </a:solidFill>
                <a:latin typeface="Calibri"/>
              </a:defRPr>
            </a:pPr>
            <a:r>
              <a:t>Step 4: Choose Your Agent 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Two base classes are supported. Pick the one that fits your strategy: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303520" cy="4846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58A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58A6FF"/>
                </a:solidFill>
                <a:latin typeface="Calibri"/>
              </a:defRPr>
            </a:pPr>
            <a:r>
              <a:t>Option A: AbstractionLayerAI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High-level actions: move, attack, harvest, build, train, idle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FB950"/>
                </a:solidFill>
                <a:latin typeface="Consolas"/>
              </a:defRPr>
            </a:pPr>
            <a:r>
              <a:t>Package: ai.abstraction.submissions.&lt;team&gt;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743200"/>
            <a:ext cx="4754880" cy="3383280"/>
          </a:xfrm>
          <a:prstGeom prst="round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package ai.abstraction.submissions.my_team;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import ai.abstraction.AbstractionLayerAI;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import ai.abstraction.pathfinding.AStarPathFinding;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import ai.core.AI;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import rts.*;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import rts.units.*;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public class MyAgent extends AbstractionLayerAI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    public MyAgent(UnitTypeTable utt)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        super(new AStarPathFinding());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    public PlayerAction getAction(int player,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                                  GameState gs)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        // Use: move(), attack(), harvest(),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        //      build(), train(), idle()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        return translateActions(player, gs);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    public AI clone() { return new MyAgent(null);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554480"/>
            <a:ext cx="5303520" cy="4846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69164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D700"/>
                </a:solidFill>
                <a:latin typeface="Calibri"/>
              </a:defRPr>
            </a:pPr>
            <a:r>
              <a:t>Option B: NaiveMCTS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949E"/>
                </a:solidFill>
                <a:latin typeface="Calibri"/>
              </a:defRPr>
            </a:pPr>
            <a:r>
              <a:t>Monte Carlo Tree Search with customizable parameters &amp;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377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FB950"/>
                </a:solidFill>
                <a:latin typeface="Consolas"/>
              </a:defRPr>
            </a:pPr>
            <a:r>
              <a:t>Package: ai.mcts.submissions.&lt;team&gt;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2743200"/>
            <a:ext cx="4754880" cy="3383280"/>
          </a:xfrm>
          <a:prstGeom prst="round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package ai.mcts.submissions.my_team;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import ai.mcts.naivemcts.NaiveMCTS;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import ai.RandomBiasedAI;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import ai.evaluation.*;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import ai.core.AI;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import rts.units.*;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public class MyMCTS extends NaiveMCTS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    public MyMCTS(UnitTypeTable utt) {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        super(100, -1, 100, 10,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              0.3f, 0.0f, 0.4f,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              new RandomBiasedAI(),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              new SimpleSqrtEvaluationFunction3(),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              true);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   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    // Override getAction() to add LLM calls,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    // custom evaluation, parameter tuning, etc.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    public AI clone() { return new MyMCTS(null); }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>
                <a:solidFill>
                  <a:srgbClr val="E6EDF3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EDF3"/>
                </a:solidFill>
                <a:latin typeface="Calibri"/>
              </a:defRPr>
            </a:pPr>
            <a:r>
              <a:t>Step 5: Test Locally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EDF3"/>
                </a:solidFill>
                <a:latin typeface="Calibri"/>
              </a:defRPr>
            </a:pPr>
            <a:r>
              <a:t>Build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5486400" cy="457200"/>
          </a:xfrm>
          <a:prstGeom prst="round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  <a:r>
              <a:t>ant build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65176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EDF3"/>
                </a:solidFill>
                <a:latin typeface="Calibri"/>
              </a:defRPr>
            </a:pPr>
            <a:r>
              <a:t>Validate your submission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108960"/>
            <a:ext cx="7315200" cy="822960"/>
          </a:xfrm>
          <a:prstGeom prst="round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  <a:r>
              <a:t>$ python3 tournament/validate_submission.py submissions/my-team/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  <a:r>
              <a:t>PASS: submissions/my-team/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297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EDF3"/>
                </a:solidFill>
                <a:latin typeface="Calibri"/>
              </a:defRPr>
            </a:pPr>
            <a:r>
              <a:t>Run a test game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754880"/>
            <a:ext cx="9144000" cy="1371600"/>
          </a:xfrm>
          <a:prstGeom prst="round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400">
                <a:solidFill>
                  <a:srgbClr val="E6EDF3"/>
                </a:solidFill>
                <a:latin typeface="Consolas"/>
              </a:defRPr>
            </a:pPr>
            <a:r>
              <a:t># Edit resources/config.properties: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E6EDF3"/>
                </a:solidFill>
                <a:latin typeface="Consolas"/>
              </a:defRPr>
            </a:pPr>
            <a:r>
              <a:t>#   AI1=ai.abstraction.submissions.my_team.MyAgent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E6EDF3"/>
                </a:solidFill>
                <a:latin typeface="Consolas"/>
              </a:defRPr>
            </a:pPr>
            <a:r>
              <a:t>#   AI2=ai.RandomBiasedAI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E6EDF3"/>
                </a:solidFill>
                <a:latin typeface="Consolas"/>
              </a:defRPr>
            </a:pPr>
            <a:r>
              <a:t>$ java -cp "lib/*:bin" rts.MicroRTS -f resources/config.properties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E6EDF3"/>
                </a:solidFill>
                <a:latin typeface="Consolas"/>
              </a:defRPr>
            </a:pPr>
            <a:r>
              <a:t>WINNER: 0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400">
                <a:solidFill>
                  <a:srgbClr val="E6EDF3"/>
                </a:solidFill>
                <a:latin typeface="Consolas"/>
              </a:defRPr>
            </a:pPr>
            <a:r>
              <a:t>FINAL_TICK: 847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EDF3"/>
                </a:solidFill>
                <a:latin typeface="Calibri"/>
              </a:defRPr>
            </a:pPr>
            <a:r>
              <a:t>Step 6: Submit a Pull Request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7315200" cy="2011680"/>
          </a:xfrm>
          <a:prstGeom prst="round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 tIns="101600" bIns="101600"/>
          <a:lstStyle/>
          <a:p>
            <a:pPr algn="ctr"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  <a:r>
              <a:t># Stage your submission files only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  <a:r>
              <a:t>$ git add submissions/my-team/metadata.json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  <a:r>
              <a:t>$ git add submissions/my-team/MyAgent.java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  <a:r>
              <a:t># Commit and push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  <a:r>
              <a:t>$ git commit -m "Add my-team agent submission"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  <a:r>
              <a:t>$ git push origin master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  <a:r>
              <a:t># Open a Pull Request on GitHub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  <a:r>
              <a:t>#   Base: drchangliu/MicroRTS master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500">
                <a:solidFill>
                  <a:srgbClr val="E6EDF3"/>
                </a:solidFill>
                <a:latin typeface="Consolas"/>
              </a:defRPr>
            </a:pPr>
            <a:r>
              <a:t>#   Head: your-fork/MicroRTS master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EDF3"/>
                </a:solidFill>
                <a:latin typeface="Calibri"/>
              </a:defRPr>
            </a:pPr>
            <a:r>
              <a:t>What happens after you submit: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251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alibri"/>
              </a:defRPr>
            </a:pPr>
            <a:r>
              <a:t>CI validates your metadata.json and Java source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461772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663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alibri"/>
              </a:defRPr>
            </a:pPr>
            <a:r>
              <a:t>Maintainers review for security compliance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502920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749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alibri"/>
              </a:defRPr>
            </a:pPr>
            <a:r>
              <a:t>PR is merged into master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544068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4864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alibri"/>
              </a:defRPr>
            </a:pPr>
            <a:r>
              <a:t>Tournament runs automatically via GitHub Actions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5852160"/>
            <a:ext cx="457200" cy="457200"/>
          </a:xfrm>
          <a:prstGeom prst="ellipse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800" b="1">
                <a:solidFill>
                  <a:srgbClr val="0D1117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58978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B949E"/>
                </a:solidFill>
                <a:latin typeface="Calibri"/>
              </a:defRPr>
            </a:pPr>
            <a:r>
              <a:t>Results appear on the live leaderboard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1280160"/>
            <a:ext cx="3200400" cy="2926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14173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58A6FF"/>
                </a:solidFill>
                <a:latin typeface="Calibri"/>
              </a:defRPr>
            </a:pPr>
            <a:r>
              <a:t>PR Checklist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187451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FB950"/>
                </a:solidFill>
                <a:latin typeface="Calibri"/>
              </a:defRPr>
            </a:pPr>
            <a:r>
              <a:t>  Only files in submissions/your-team/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203703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FB950"/>
                </a:solidFill>
                <a:latin typeface="Calibri"/>
              </a:defRPr>
            </a:pPr>
            <a:r>
              <a:t>  metadata.json is valid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2532887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FB950"/>
                </a:solidFill>
                <a:latin typeface="Calibri"/>
              </a:defRPr>
            </a:pPr>
            <a:r>
              <a:t>  Java file compiles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862071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FB950"/>
                </a:solidFill>
                <a:latin typeface="Calibri"/>
              </a:defRPr>
            </a:pPr>
            <a:r>
              <a:t>  UnitTypeTable constructor exists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3191255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FB950"/>
                </a:solidFill>
                <a:latin typeface="Calibri"/>
              </a:defRPr>
            </a:pPr>
            <a:r>
              <a:t>  No forbidden APIs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5204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FB950"/>
                </a:solidFill>
                <a:latin typeface="Calibri"/>
              </a:defRPr>
            </a:pPr>
            <a:r>
              <a:t>  Package name matches team name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EDF3"/>
                </a:solidFill>
                <a:latin typeface="Calibri"/>
              </a:defRPr>
            </a:pPr>
            <a:r>
              <a:t>Scoring: Single-Elimination Tournament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Your agent plays 6 reference AIs in order. You must WIN to advance. Draw/loss/timeout = eliminated.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943600" cy="411480"/>
          </a:xfrm>
          <a:prstGeom prst="roundRect">
            <a:avLst/>
          </a:prstGeom>
          <a:solidFill>
            <a:srgbClr val="21262D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Calibri"/>
              </a:defRPr>
            </a:pPr>
            <a:r>
              <a:t>Reference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600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Calibri"/>
              </a:defRPr>
            </a:pPr>
            <a:r>
              <a:t>Tier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600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Calibri"/>
              </a:defRPr>
            </a:pPr>
            <a:r>
              <a:t>Max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116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0116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FB950"/>
                </a:solidFill>
                <a:latin typeface="Calibri"/>
              </a:defRPr>
            </a:pPr>
            <a:r>
              <a:t>RandomBiasedAI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Easy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0116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59152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Calibri"/>
              </a:defRPr>
            </a:pPr>
            <a:r>
              <a:t>HeavyRush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359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Medium-Hard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3591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706624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70662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Calibri"/>
              </a:defRPr>
            </a:pPr>
            <a:r>
              <a:t>LightRush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7066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70662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054096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05409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58A6FF"/>
                </a:solidFill>
                <a:latin typeface="Calibri"/>
              </a:defRPr>
            </a:pPr>
            <a:r>
              <a:t>WorkerRush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0540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305409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401568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4015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149"/>
                </a:solidFill>
                <a:latin typeface="Calibri"/>
              </a:defRPr>
            </a:pPr>
            <a:r>
              <a:t>Tiamat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34015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Hard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40156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374904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3749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5149"/>
                </a:solidFill>
                <a:latin typeface="Calibri"/>
              </a:defRPr>
            </a:pPr>
            <a:r>
              <a:t>CoacAI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3749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Hard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3749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6EDF3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20624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Total: 0-100 scale (up to 120 with efficiency bonuses)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0" y="1554480"/>
            <a:ext cx="4114800" cy="2011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20" y="1645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Calibri"/>
              </a:defRPr>
            </a:pPr>
            <a:r>
              <a:t>Per-Game Scoring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21031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Calibri"/>
              </a:defRPr>
            </a:pPr>
            <a:r>
              <a:t>Win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210312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1.0 pts  (+0.2 bonus for fast wins)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24688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29922"/>
                </a:solidFill>
                <a:latin typeface="Calibri"/>
              </a:defRPr>
            </a:pPr>
            <a:r>
              <a:t>Draw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46888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0.5 pts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28346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149"/>
                </a:solidFill>
                <a:latin typeface="Calibri"/>
              </a:defRPr>
            </a:pPr>
            <a:r>
              <a:t>Loss / Timeout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283464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0.0 pts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0" y="3840480"/>
            <a:ext cx="4114800" cy="2560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89520" y="39319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58A6FF"/>
                </a:solidFill>
                <a:latin typeface="Calibri"/>
              </a:defRPr>
            </a:pPr>
            <a:r>
              <a:t>Grade Scale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389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700"/>
                </a:solidFill>
                <a:latin typeface="Calibri"/>
              </a:defRPr>
            </a:pPr>
            <a:r>
              <a:t>A+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03920" y="4389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90-100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0" y="4690872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FB950"/>
                </a:solidFill>
                <a:latin typeface="Calibri"/>
              </a:defRPr>
            </a:pPr>
            <a:r>
              <a:t>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46908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80-89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0" y="4992624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  <a:latin typeface="Calibri"/>
              </a:defRPr>
            </a:pPr>
            <a:r>
              <a:t>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499262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70-79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0" y="5294376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29922"/>
                </a:solidFill>
                <a:latin typeface="Calibri"/>
              </a:defRPr>
            </a:pPr>
            <a:r>
              <a:t>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03920" y="529437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60-69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0" y="5596128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5149"/>
                </a:solidFill>
                <a:latin typeface="Calibri"/>
              </a:defRPr>
            </a:pPr>
            <a:r>
              <a:t>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03920" y="5596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40-59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0" y="5897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949E"/>
                </a:solidFill>
                <a:latin typeface="Calibri"/>
              </a:defRPr>
            </a:pPr>
            <a:r>
              <a:t>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58978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949E"/>
                </a:solidFill>
                <a:latin typeface="Calibri"/>
              </a:defRPr>
            </a:pPr>
            <a:r>
              <a:t>0-39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6EDF3"/>
                </a:solidFill>
                <a:latin typeface="Calibri"/>
              </a:defRPr>
            </a:pPr>
            <a:r>
              <a:t>Security Restrictions &amp; Rules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029200" cy="3200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5149"/>
                </a:solidFill>
                <a:latin typeface="Calibri"/>
              </a:defRPr>
            </a:pPr>
            <a:r>
              <a:t>Forbidden Java APIs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  Runtime.exec / ProcessBuilder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1762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  ServerSocket (network servers)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2374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  System.exit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87121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  File deletion (Files.delete, .delete())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21868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  ClassLoader / Class.forName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  new Thread (multithreading)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88720"/>
            <a:ext cx="5029200" cy="3200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3258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Calibri"/>
              </a:defRPr>
            </a:pPr>
            <a:r>
              <a:t>Tournament Settings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828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Calibri"/>
              </a:defRPr>
            </a:pPr>
            <a:r>
              <a:t>8x8/basesWorkers8x8.xml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Max Cycles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Calibri"/>
              </a:defRPr>
            </a:pPr>
            <a:r>
              <a:t>1500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560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Game Timeout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Calibri"/>
              </a:defRPr>
            </a:pPr>
            <a:r>
              <a:t>15 minutes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926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Headless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9260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2918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UTT Version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291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6EDF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6EDF3"/>
                </a:solidFill>
                <a:latin typeface="Calibri"/>
              </a:defRPr>
            </a:pPr>
            <a:r>
              <a:t>Fair Play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206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400">
                <a:solidFill>
                  <a:srgbClr val="8B949E"/>
                </a:solidFill>
                <a:latin typeface="Calibri"/>
              </a:defRPr>
            </a:pPr>
            <a:r>
              <a:t>- One submission per team    |    No exploiting engine bugs    |    Maintainers may disqualify submissions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6EDF3"/>
                </a:solidFill>
                <a:latin typeface="Calibri"/>
              </a:defRPr>
            </a:pPr>
            <a:r>
              <a:t>Get Started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1920240"/>
            <a:ext cx="3931920" cy="3810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8B949E"/>
                </a:solidFill>
                <a:latin typeface="Calibri"/>
              </a:defRPr>
            </a:pPr>
            <a:r>
              <a:t>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Calibri"/>
              </a:defRPr>
            </a:pPr>
            <a:r>
              <a:t>github.com/drchangliu/MicroRTS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30632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8B949E"/>
                </a:solidFill>
                <a:latin typeface="Calibri"/>
              </a:defRPr>
            </a:pPr>
            <a:r>
              <a:t>Leaderboard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Calibri"/>
              </a:defRPr>
            </a:pPr>
            <a:r>
              <a:t>drchangliu.github.io/MicroRTS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8B949E"/>
                </a:solidFill>
                <a:latin typeface="Calibri"/>
              </a:defRPr>
            </a:pPr>
            <a:r>
              <a:t>Submission Guide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Calibri"/>
              </a:defRPr>
            </a:pPr>
            <a:r>
              <a:t>drchangliu.github.io/MicroRTS/submit.html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251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8B949E"/>
                </a:solidFill>
                <a:latin typeface="Calibri"/>
              </a:defRPr>
            </a:pPr>
            <a:r>
              <a:t>Competition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4251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  <a:latin typeface="Calibri"/>
              </a:defRPr>
            </a:pPr>
            <a:r>
              <a:t>drchangliu.github.io/MicroRTS/rules.html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1206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D700"/>
                </a:solidFill>
                <a:latin typeface="Calibri"/>
              </a:defRPr>
            </a:pPr>
            <a:r>
              <a:t>Fork  &gt;  Code  &gt;  PR  &gt;  Compete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  <a:latin typeface="Calibri"/>
              </a:defRPr>
            </a:pPr>
            <a:r>
              <a:t>IEEE WCCI 2026  |  MicroRTS LLM Game AI Competition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